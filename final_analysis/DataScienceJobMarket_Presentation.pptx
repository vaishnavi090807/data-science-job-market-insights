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0" r:id="rId4"/>
    <p:sldId id="272"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33" d="100"/>
          <a:sy n="33" d="100"/>
        </p:scale>
        <p:origin x="300" y="8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B44"/>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04672" y="398417"/>
            <a:ext cx="5029200" cy="320040"/>
          </a:xfrm>
          <a:prstGeom prst="rect">
            <a:avLst/>
          </a:prstGeom>
          <a:noFill/>
        </p:spPr>
        <p:txBody>
          <a:bodyPr wrap="square" lIns="54864" tIns="54864" rIns="54864" bIns="54864" anchor="t">
            <a:spAutoFit/>
          </a:bodyPr>
          <a:lstStyle/>
          <a:p>
            <a:pPr>
              <a:spcAft>
                <a:spcPts val="700"/>
              </a:spcAft>
              <a:defRPr sz="1300" b="1">
                <a:solidFill>
                  <a:srgbClr val="84E2DA"/>
                </a:solidFill>
                <a:latin typeface="Aptos"/>
              </a:defRPr>
            </a:pPr>
            <a:r>
              <a:rPr dirty="0"/>
              <a:t>DATA VISUALISATION CASE STUDY</a:t>
            </a:r>
          </a:p>
        </p:txBody>
      </p:sp>
      <p:sp>
        <p:nvSpPr>
          <p:cNvPr id="4" name="TextBox 3"/>
          <p:cNvSpPr txBox="1"/>
          <p:nvPr/>
        </p:nvSpPr>
        <p:spPr>
          <a:xfrm>
            <a:off x="797269" y="1120323"/>
            <a:ext cx="6241869" cy="2142125"/>
          </a:xfrm>
          <a:prstGeom prst="rect">
            <a:avLst/>
          </a:prstGeom>
          <a:noFill/>
        </p:spPr>
        <p:txBody>
          <a:bodyPr wrap="square" lIns="54864" tIns="54864" rIns="54864" bIns="54864" anchor="t">
            <a:spAutoFit/>
          </a:bodyPr>
          <a:lstStyle/>
          <a:p>
            <a:pPr>
              <a:spcAft>
                <a:spcPts val="700"/>
              </a:spcAft>
              <a:defRPr sz="4400" b="1">
                <a:solidFill>
                  <a:srgbClr val="FFFFFF"/>
                </a:solidFill>
                <a:latin typeface="Aptos"/>
              </a:defRPr>
            </a:pPr>
            <a:r>
              <a:rPr lang="en-IN" sz="4400" b="1" dirty="0">
                <a:solidFill>
                  <a:srgbClr val="FFFFFF"/>
                </a:solidFill>
                <a:latin typeface="Aptos"/>
              </a:rPr>
              <a:t>Data Science Job Market and Skills Demand Analytics</a:t>
            </a:r>
            <a:endParaRPr dirty="0"/>
          </a:p>
        </p:txBody>
      </p:sp>
      <p:sp>
        <p:nvSpPr>
          <p:cNvPr id="6" name="TextBox 5"/>
          <p:cNvSpPr txBox="1"/>
          <p:nvPr/>
        </p:nvSpPr>
        <p:spPr>
          <a:xfrm>
            <a:off x="822960" y="3977639"/>
            <a:ext cx="5852160" cy="664797"/>
          </a:xfrm>
          <a:prstGeom prst="rect">
            <a:avLst/>
          </a:prstGeom>
          <a:noFill/>
        </p:spPr>
        <p:txBody>
          <a:bodyPr wrap="square" lIns="54864" tIns="54864" rIns="54864" bIns="54864" anchor="t">
            <a:spAutoFit/>
          </a:bodyPr>
          <a:lstStyle/>
          <a:p>
            <a:r>
              <a:rPr lang="en-IN" dirty="0">
                <a:solidFill>
                  <a:schemeClr val="bg1"/>
                </a:solidFill>
              </a:rPr>
              <a:t>Exploring salary trends, experience levels, job roles, and in-demand skills using Python, </a:t>
            </a:r>
            <a:r>
              <a:rPr lang="en-IN" dirty="0" err="1">
                <a:solidFill>
                  <a:schemeClr val="bg1"/>
                </a:solidFill>
              </a:rPr>
              <a:t>Plotly</a:t>
            </a:r>
            <a:r>
              <a:rPr lang="en-IN" dirty="0">
                <a:solidFill>
                  <a:schemeClr val="bg1"/>
                </a:solidFill>
              </a:rPr>
              <a:t>, and Tableau.</a:t>
            </a:r>
          </a:p>
        </p:txBody>
      </p:sp>
      <p:sp>
        <p:nvSpPr>
          <p:cNvPr id="7" name="TextBox 6"/>
          <p:cNvSpPr txBox="1"/>
          <p:nvPr/>
        </p:nvSpPr>
        <p:spPr>
          <a:xfrm>
            <a:off x="822960" y="5806440"/>
            <a:ext cx="6217920" cy="295466"/>
          </a:xfrm>
          <a:prstGeom prst="rect">
            <a:avLst/>
          </a:prstGeom>
          <a:noFill/>
        </p:spPr>
        <p:txBody>
          <a:bodyPr wrap="square" lIns="54864" tIns="54864" rIns="54864" bIns="54864" anchor="t">
            <a:spAutoFit/>
          </a:bodyPr>
          <a:lstStyle/>
          <a:p>
            <a:pPr>
              <a:spcAft>
                <a:spcPts val="700"/>
              </a:spcAft>
              <a:defRPr sz="1200" b="0">
                <a:solidFill>
                  <a:srgbClr val="FFFFFF"/>
                </a:solidFill>
                <a:latin typeface="Aptos"/>
              </a:defRPr>
            </a:pPr>
            <a:r>
              <a:rPr dirty="0"/>
              <a:t>Prepared by </a:t>
            </a:r>
            <a:r>
              <a:rPr lang="en-IN" dirty="0"/>
              <a:t>Sabbella Vaishnavi</a:t>
            </a:r>
            <a:r>
              <a:rPr dirty="0"/>
              <a:t>  |  Data </a:t>
            </a:r>
            <a:r>
              <a:rPr dirty="0" err="1"/>
              <a:t>Visualisation</a:t>
            </a:r>
            <a:r>
              <a:rPr dirty="0"/>
              <a:t>  |  19 October 2026</a:t>
            </a:r>
          </a:p>
        </p:txBody>
      </p:sp>
      <p:sp>
        <p:nvSpPr>
          <p:cNvPr id="8" name="Rounded Rectangle 7"/>
          <p:cNvSpPr/>
          <p:nvPr/>
        </p:nvSpPr>
        <p:spPr>
          <a:xfrm>
            <a:off x="7635240" y="914400"/>
            <a:ext cx="3840480" cy="4846320"/>
          </a:xfrm>
          <a:prstGeom prst="roundRect">
            <a:avLst>
              <a:gd name="adj" fmla="val 12000"/>
            </a:avLst>
          </a:prstGeom>
          <a:solidFill>
            <a:srgbClr val="1C3D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0" y="1499967"/>
            <a:ext cx="2834640" cy="292608"/>
          </a:xfrm>
          <a:prstGeom prst="rect">
            <a:avLst/>
          </a:prstGeom>
          <a:noFill/>
        </p:spPr>
        <p:txBody>
          <a:bodyPr wrap="square" lIns="54864" tIns="54864" rIns="54864" bIns="54864" anchor="t">
            <a:spAutoFit/>
          </a:bodyPr>
          <a:lstStyle/>
          <a:p>
            <a:pPr>
              <a:spcAft>
                <a:spcPts val="700"/>
              </a:spcAft>
              <a:defRPr sz="1400" b="0">
                <a:solidFill>
                  <a:srgbClr val="D2E2EB"/>
                </a:solidFill>
                <a:latin typeface="Aptos"/>
              </a:defRPr>
            </a:pPr>
            <a:r>
              <a:rPr dirty="0"/>
              <a:t>Source records</a:t>
            </a:r>
          </a:p>
        </p:txBody>
      </p:sp>
      <p:sp>
        <p:nvSpPr>
          <p:cNvPr id="10" name="TextBox 9"/>
          <p:cNvSpPr txBox="1"/>
          <p:nvPr/>
        </p:nvSpPr>
        <p:spPr>
          <a:xfrm>
            <a:off x="8046720" y="1920591"/>
            <a:ext cx="2743200" cy="1188018"/>
          </a:xfrm>
          <a:prstGeom prst="rect">
            <a:avLst/>
          </a:prstGeom>
          <a:noFill/>
        </p:spPr>
        <p:txBody>
          <a:bodyPr wrap="square" lIns="54864" tIns="54864" rIns="54864" bIns="54864" anchor="t">
            <a:spAutoFit/>
          </a:bodyPr>
          <a:lstStyle/>
          <a:p>
            <a:pPr>
              <a:spcAft>
                <a:spcPts val="700"/>
              </a:spcAft>
              <a:defRPr sz="3000" b="1">
                <a:solidFill>
                  <a:srgbClr val="80DCD0"/>
                </a:solidFill>
                <a:latin typeface="Aptos"/>
              </a:defRPr>
            </a:pPr>
            <a:r>
              <a:rPr lang="en-IN" dirty="0"/>
              <a:t>15,782 </a:t>
            </a:r>
            <a:r>
              <a:rPr lang="en-IN" sz="2000" dirty="0"/>
              <a:t>(14,838 salary records+944 job postings)</a:t>
            </a:r>
            <a:endParaRPr dirty="0"/>
          </a:p>
        </p:txBody>
      </p:sp>
      <p:sp>
        <p:nvSpPr>
          <p:cNvPr id="13" name="TextBox 12"/>
          <p:cNvSpPr txBox="1"/>
          <p:nvPr/>
        </p:nvSpPr>
        <p:spPr>
          <a:xfrm>
            <a:off x="8046720" y="4069080"/>
            <a:ext cx="2834640" cy="292608"/>
          </a:xfrm>
          <a:prstGeom prst="rect">
            <a:avLst/>
          </a:prstGeom>
          <a:noFill/>
        </p:spPr>
        <p:txBody>
          <a:bodyPr wrap="square" lIns="54864" tIns="54864" rIns="54864" bIns="54864" anchor="t">
            <a:spAutoFit/>
          </a:bodyPr>
          <a:lstStyle/>
          <a:p>
            <a:pPr>
              <a:spcAft>
                <a:spcPts val="700"/>
              </a:spcAft>
              <a:defRPr sz="1400" b="0">
                <a:solidFill>
                  <a:srgbClr val="D2E2EB"/>
                </a:solidFill>
                <a:latin typeface="Aptos"/>
              </a:defRPr>
            </a:pPr>
            <a:r>
              <a:t>Indicators</a:t>
            </a:r>
          </a:p>
        </p:txBody>
      </p:sp>
      <p:sp>
        <p:nvSpPr>
          <p:cNvPr id="14" name="TextBox 13"/>
          <p:cNvSpPr txBox="1"/>
          <p:nvPr/>
        </p:nvSpPr>
        <p:spPr>
          <a:xfrm>
            <a:off x="8046720" y="4389120"/>
            <a:ext cx="3322320" cy="1034129"/>
          </a:xfrm>
          <a:prstGeom prst="rect">
            <a:avLst/>
          </a:prstGeom>
          <a:noFill/>
        </p:spPr>
        <p:txBody>
          <a:bodyPr wrap="square" lIns="54864" tIns="54864" rIns="54864" bIns="54864" anchor="t">
            <a:spAutoFit/>
          </a:bodyPr>
          <a:lstStyle/>
          <a:p>
            <a:pPr>
              <a:spcAft>
                <a:spcPts val="700"/>
              </a:spcAft>
              <a:defRPr sz="3000" b="1">
                <a:solidFill>
                  <a:srgbClr val="AEC7F2"/>
                </a:solidFill>
                <a:latin typeface="Aptos"/>
              </a:defRPr>
            </a:pPr>
            <a:r>
              <a:rPr lang="en-IN" sz="3000" b="1" dirty="0">
                <a:solidFill>
                  <a:srgbClr val="AEC7F2"/>
                </a:solidFill>
                <a:latin typeface="Aptos"/>
              </a:rPr>
              <a:t>2 datasets </a:t>
            </a:r>
            <a:r>
              <a:rPr lang="en-IN" sz="3000" b="1" dirty="0" err="1">
                <a:solidFill>
                  <a:srgbClr val="AEC7F2"/>
                </a:solidFill>
                <a:latin typeface="Aptos"/>
              </a:rPr>
              <a:t>analyzed</a:t>
            </a:r>
            <a:endParaRPr dirty="0"/>
          </a:p>
        </p:txBody>
      </p:sp>
      <p:sp>
        <p:nvSpPr>
          <p:cNvPr id="19" name="TextBox 18">
            <a:extLst>
              <a:ext uri="{FF2B5EF4-FFF2-40B4-BE49-F238E27FC236}">
                <a16:creationId xmlns:a16="http://schemas.microsoft.com/office/drawing/2014/main" id="{461E0174-4CDF-2E21-1591-3658068421F9}"/>
              </a:ext>
            </a:extLst>
          </p:cNvPr>
          <p:cNvSpPr txBox="1"/>
          <p:nvPr/>
        </p:nvSpPr>
        <p:spPr>
          <a:xfrm>
            <a:off x="8046720" y="3116144"/>
            <a:ext cx="2834640" cy="326243"/>
          </a:xfrm>
          <a:prstGeom prst="rect">
            <a:avLst/>
          </a:prstGeom>
          <a:noFill/>
        </p:spPr>
        <p:txBody>
          <a:bodyPr wrap="square" lIns="54864" tIns="54864" rIns="54864" bIns="54864" anchor="t">
            <a:spAutoFit/>
          </a:bodyPr>
          <a:lstStyle/>
          <a:p>
            <a:pPr>
              <a:spcAft>
                <a:spcPts val="700"/>
              </a:spcAft>
              <a:defRPr sz="1400" b="0">
                <a:solidFill>
                  <a:srgbClr val="D2E2EB"/>
                </a:solidFill>
                <a:latin typeface="Aptos"/>
              </a:defRPr>
            </a:pPr>
            <a:r>
              <a:rPr lang="en-IN" dirty="0"/>
              <a:t>Unique Job Titles</a:t>
            </a:r>
            <a:endParaRPr dirty="0"/>
          </a:p>
        </p:txBody>
      </p:sp>
      <p:sp>
        <p:nvSpPr>
          <p:cNvPr id="21" name="TextBox 20">
            <a:extLst>
              <a:ext uri="{FF2B5EF4-FFF2-40B4-BE49-F238E27FC236}">
                <a16:creationId xmlns:a16="http://schemas.microsoft.com/office/drawing/2014/main" id="{C111014A-D662-F6FC-094F-A9E4BBA2BDF3}"/>
              </a:ext>
            </a:extLst>
          </p:cNvPr>
          <p:cNvSpPr txBox="1"/>
          <p:nvPr/>
        </p:nvSpPr>
        <p:spPr>
          <a:xfrm>
            <a:off x="8046720" y="3469501"/>
            <a:ext cx="2743200" cy="572464"/>
          </a:xfrm>
          <a:prstGeom prst="rect">
            <a:avLst/>
          </a:prstGeom>
          <a:noFill/>
        </p:spPr>
        <p:txBody>
          <a:bodyPr wrap="square" lIns="54864" tIns="54864" rIns="54864" bIns="54864" anchor="t">
            <a:spAutoFit/>
          </a:bodyPr>
          <a:lstStyle/>
          <a:p>
            <a:pPr>
              <a:spcAft>
                <a:spcPts val="700"/>
              </a:spcAft>
              <a:defRPr sz="3000" b="1">
                <a:solidFill>
                  <a:srgbClr val="80DCD0"/>
                </a:solidFill>
                <a:latin typeface="Aptos"/>
              </a:defRPr>
            </a:pPr>
            <a:r>
              <a:rPr lang="en-IN" dirty="0"/>
              <a:t>153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881360" cy="502920"/>
          </a:xfrm>
          <a:prstGeom prst="rect">
            <a:avLst/>
          </a:prstGeom>
          <a:noFill/>
        </p:spPr>
        <p:txBody>
          <a:bodyPr wrap="square" lIns="54864" tIns="54864" rIns="54864" bIns="54864" anchor="t">
            <a:spAutoFit/>
          </a:bodyPr>
          <a:lstStyle/>
          <a:p>
            <a:pPr>
              <a:spcAft>
                <a:spcPts val="700"/>
              </a:spcAft>
              <a:defRPr sz="2800" b="1">
                <a:solidFill>
                  <a:srgbClr val="142B44"/>
                </a:solidFill>
                <a:latin typeface="Aptos"/>
              </a:defRPr>
            </a:pPr>
            <a:r>
              <a:t>Problem statement and objectives</a:t>
            </a:r>
          </a:p>
        </p:txBody>
      </p:sp>
      <p:sp>
        <p:nvSpPr>
          <p:cNvPr id="4" name="TextBox 3"/>
          <p:cNvSpPr txBox="1"/>
          <p:nvPr/>
        </p:nvSpPr>
        <p:spPr>
          <a:xfrm>
            <a:off x="530352" y="859536"/>
            <a:ext cx="10972800" cy="347472"/>
          </a:xfrm>
          <a:prstGeom prst="rect">
            <a:avLst/>
          </a:prstGeom>
          <a:noFill/>
        </p:spPr>
        <p:txBody>
          <a:bodyPr wrap="square" lIns="54864" tIns="54864" rIns="54864" bIns="54864" anchor="t">
            <a:spAutoFit/>
          </a:bodyPr>
          <a:lstStyle/>
          <a:p>
            <a:pPr>
              <a:spcAft>
                <a:spcPts val="700"/>
              </a:spcAft>
              <a:defRPr sz="1100" b="0">
                <a:solidFill>
                  <a:srgbClr val="5E6F7F"/>
                </a:solidFill>
                <a:latin typeface="Aptos"/>
              </a:defRPr>
            </a:pPr>
            <a:r>
              <a:t>Why a structured visual analysis is needed</a:t>
            </a:r>
          </a:p>
        </p:txBody>
      </p:sp>
      <p:sp>
        <p:nvSpPr>
          <p:cNvPr id="5" name="Rectangle 4"/>
          <p:cNvSpPr/>
          <p:nvPr/>
        </p:nvSpPr>
        <p:spPr>
          <a:xfrm>
            <a:off x="502920" y="6510528"/>
            <a:ext cx="11155680"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37960"/>
            <a:ext cx="457200" cy="201168"/>
          </a:xfrm>
          <a:prstGeom prst="rect">
            <a:avLst/>
          </a:prstGeom>
          <a:noFill/>
        </p:spPr>
        <p:txBody>
          <a:bodyPr wrap="square" lIns="54864" tIns="54864" rIns="54864" bIns="54864" anchor="t">
            <a:spAutoFit/>
          </a:bodyPr>
          <a:lstStyle/>
          <a:p>
            <a:pPr algn="r">
              <a:spcAft>
                <a:spcPts val="700"/>
              </a:spcAft>
              <a:defRPr sz="900" b="0">
                <a:solidFill>
                  <a:srgbClr val="5E6F7F"/>
                </a:solidFill>
                <a:latin typeface="Aptos"/>
              </a:defRPr>
            </a:pPr>
            <a:r>
              <a:t>2</a:t>
            </a:r>
          </a:p>
        </p:txBody>
      </p:sp>
      <p:sp>
        <p:nvSpPr>
          <p:cNvPr id="8" name="Rounded Rectangle 7"/>
          <p:cNvSpPr/>
          <p:nvPr/>
        </p:nvSpPr>
        <p:spPr>
          <a:xfrm>
            <a:off x="594360" y="1417320"/>
            <a:ext cx="5303520" cy="192024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1417320"/>
            <a:ext cx="73152" cy="1920240"/>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8" y="1581912"/>
            <a:ext cx="4937759" cy="32004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t>Problem statement</a:t>
            </a:r>
          </a:p>
        </p:txBody>
      </p:sp>
      <p:sp>
        <p:nvSpPr>
          <p:cNvPr id="11" name="TextBox 10"/>
          <p:cNvSpPr txBox="1"/>
          <p:nvPr/>
        </p:nvSpPr>
        <p:spPr>
          <a:xfrm>
            <a:off x="795528" y="1776644"/>
            <a:ext cx="4803866" cy="1341906"/>
          </a:xfrm>
          <a:prstGeom prst="rect">
            <a:avLst/>
          </a:prstGeom>
          <a:noFill/>
        </p:spPr>
        <p:txBody>
          <a:bodyPr wrap="square" lIns="54864" tIns="54864" rIns="54864" bIns="54864" anchor="t">
            <a:spAutoFit/>
          </a:bodyPr>
          <a:lstStyle/>
          <a:p>
            <a:r>
              <a:rPr lang="en-IN" sz="1600" dirty="0"/>
              <a:t>The data science job market includes diverse job titles, experience levels, salary ranges, industries, and skill requirements. </a:t>
            </a:r>
            <a:r>
              <a:rPr lang="en-IN" sz="1600" dirty="0" err="1"/>
              <a:t>Analyzing</a:t>
            </a:r>
            <a:r>
              <a:rPr lang="en-IN" sz="1600" dirty="0"/>
              <a:t> these factors across separate datasets can be challenging because they differ in time period, structure, and salary format.</a:t>
            </a:r>
          </a:p>
        </p:txBody>
      </p:sp>
      <p:sp>
        <p:nvSpPr>
          <p:cNvPr id="12" name="Rounded Rectangle 11"/>
          <p:cNvSpPr/>
          <p:nvPr/>
        </p:nvSpPr>
        <p:spPr>
          <a:xfrm>
            <a:off x="6217920" y="1417320"/>
            <a:ext cx="5303520" cy="192024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1417320"/>
            <a:ext cx="73152" cy="1920240"/>
          </a:xfrm>
          <a:prstGeom prst="rect">
            <a:avLst/>
          </a:prstGeom>
          <a:solidFill>
            <a:srgbClr val="EEAD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19088" y="1581912"/>
            <a:ext cx="4937759" cy="32004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t>Core question</a:t>
            </a:r>
          </a:p>
        </p:txBody>
      </p:sp>
      <p:sp>
        <p:nvSpPr>
          <p:cNvPr id="15" name="TextBox 14"/>
          <p:cNvSpPr txBox="1"/>
          <p:nvPr/>
        </p:nvSpPr>
        <p:spPr>
          <a:xfrm>
            <a:off x="6419088" y="1993392"/>
            <a:ext cx="4919472" cy="941796"/>
          </a:xfrm>
          <a:prstGeom prst="rect">
            <a:avLst/>
          </a:prstGeom>
          <a:noFill/>
        </p:spPr>
        <p:txBody>
          <a:bodyPr wrap="square" lIns="54864" tIns="54864" rIns="54864" bIns="54864" anchor="t">
            <a:spAutoFit/>
          </a:bodyPr>
          <a:lstStyle/>
          <a:p>
            <a:r>
              <a:rPr lang="en-IN" dirty="0"/>
              <a:t>How can data visualization help us understand salary patterns, experience-level differences, and the skills demanded in data science job postings?</a:t>
            </a:r>
          </a:p>
        </p:txBody>
      </p:sp>
      <p:sp>
        <p:nvSpPr>
          <p:cNvPr id="16" name="TextBox 15"/>
          <p:cNvSpPr txBox="1"/>
          <p:nvPr/>
        </p:nvSpPr>
        <p:spPr>
          <a:xfrm>
            <a:off x="731520" y="3794760"/>
            <a:ext cx="5029200" cy="36576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t>PROJECT OBJECTIVES</a:t>
            </a:r>
          </a:p>
        </p:txBody>
      </p:sp>
      <p:sp>
        <p:nvSpPr>
          <p:cNvPr id="17" name="TextBox 16"/>
          <p:cNvSpPr txBox="1"/>
          <p:nvPr/>
        </p:nvSpPr>
        <p:spPr>
          <a:xfrm>
            <a:off x="777240" y="4224528"/>
            <a:ext cx="10607040" cy="1772793"/>
          </a:xfrm>
          <a:prstGeom prst="rect">
            <a:avLst/>
          </a:prstGeom>
          <a:noFill/>
        </p:spPr>
        <p:txBody>
          <a:bodyPr wrap="square" lIns="54864" tIns="54864" rIns="54864" bIns="54864" anchor="t">
            <a:spAutoFit/>
          </a:bodyPr>
          <a:lstStyle/>
          <a:p>
            <a:pPr marL="285750" lvl="0" indent="-285750">
              <a:buFont typeface="Arial" panose="020B0604020202020204" pitchFamily="34" charset="0"/>
              <a:buChar char="•"/>
            </a:pPr>
            <a:r>
              <a:rPr lang="en-IN" dirty="0"/>
              <a:t>Assess the structure and quality of both datasets.</a:t>
            </a:r>
          </a:p>
          <a:p>
            <a:pPr marL="285750" lvl="0" indent="-285750">
              <a:buFont typeface="Arial" panose="020B0604020202020204" pitchFamily="34" charset="0"/>
              <a:buChar char="•"/>
            </a:pPr>
            <a:r>
              <a:rPr lang="en-IN" dirty="0" err="1"/>
              <a:t>Analyze</a:t>
            </a:r>
            <a:r>
              <a:rPr lang="en-IN" dirty="0"/>
              <a:t> salary distributions and trends from 2020 - 2024.</a:t>
            </a:r>
          </a:p>
          <a:p>
            <a:pPr marL="285750" lvl="0" indent="-285750">
              <a:buFont typeface="Arial" panose="020B0604020202020204" pitchFamily="34" charset="0"/>
              <a:buChar char="•"/>
            </a:pPr>
            <a:r>
              <a:rPr lang="en-IN" dirty="0"/>
              <a:t>Compare salaries across experience levels and job titles.</a:t>
            </a:r>
          </a:p>
          <a:p>
            <a:pPr marL="285750" lvl="0" indent="-285750">
              <a:buFont typeface="Arial" panose="020B0604020202020204" pitchFamily="34" charset="0"/>
              <a:buChar char="•"/>
            </a:pPr>
            <a:r>
              <a:rPr lang="en-IN" dirty="0"/>
              <a:t>Identify frequently listed skills in 2025 job postings.</a:t>
            </a:r>
          </a:p>
          <a:p>
            <a:pPr marL="285750" lvl="0" indent="-285750">
              <a:buFont typeface="Arial" panose="020B0604020202020204" pitchFamily="34" charset="0"/>
              <a:buChar char="•"/>
            </a:pPr>
            <a:r>
              <a:rPr lang="en-IN" dirty="0"/>
              <a:t>Build interactive visualizations and a Tableau dashboard.</a:t>
            </a:r>
          </a:p>
          <a:p>
            <a:pPr marL="285750" lvl="0" indent="-285750">
              <a:buFont typeface="Arial" panose="020B0604020202020204" pitchFamily="34" charset="0"/>
              <a:buChar char="•"/>
            </a:pPr>
            <a:r>
              <a:rPr lang="en-IN" dirty="0"/>
              <a:t>Communicate limitations and demonstrate ethical visualization practices.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881360" cy="502920"/>
          </a:xfrm>
          <a:prstGeom prst="rect">
            <a:avLst/>
          </a:prstGeom>
          <a:noFill/>
        </p:spPr>
        <p:txBody>
          <a:bodyPr wrap="square" lIns="54864" tIns="54864" rIns="54864" bIns="54864" anchor="t">
            <a:spAutoFit/>
          </a:bodyPr>
          <a:lstStyle/>
          <a:p>
            <a:pPr>
              <a:spcAft>
                <a:spcPts val="700"/>
              </a:spcAft>
              <a:defRPr sz="2800" b="1">
                <a:solidFill>
                  <a:srgbClr val="142B44"/>
                </a:solidFill>
                <a:latin typeface="Aptos"/>
              </a:defRPr>
            </a:pPr>
            <a:r>
              <a:t>Dataset description</a:t>
            </a:r>
          </a:p>
        </p:txBody>
      </p:sp>
      <p:sp>
        <p:nvSpPr>
          <p:cNvPr id="4" name="TextBox 3"/>
          <p:cNvSpPr txBox="1"/>
          <p:nvPr/>
        </p:nvSpPr>
        <p:spPr>
          <a:xfrm>
            <a:off x="530352" y="859536"/>
            <a:ext cx="10972800" cy="387798"/>
          </a:xfrm>
          <a:prstGeom prst="rect">
            <a:avLst/>
          </a:prstGeom>
          <a:noFill/>
        </p:spPr>
        <p:txBody>
          <a:bodyPr wrap="square" lIns="54864" tIns="54864" rIns="54864" bIns="54864" anchor="t">
            <a:spAutoFit/>
          </a:bodyPr>
          <a:lstStyle/>
          <a:p>
            <a:r>
              <a:rPr lang="en-IN" b="1" dirty="0"/>
              <a:t>Dataset 1: Data Science Salaries 2024</a:t>
            </a:r>
          </a:p>
        </p:txBody>
      </p:sp>
      <p:sp>
        <p:nvSpPr>
          <p:cNvPr id="5" name="Rectangle 4"/>
          <p:cNvSpPr/>
          <p:nvPr/>
        </p:nvSpPr>
        <p:spPr>
          <a:xfrm>
            <a:off x="502920" y="6510528"/>
            <a:ext cx="11155680"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37960"/>
            <a:ext cx="457200" cy="201168"/>
          </a:xfrm>
          <a:prstGeom prst="rect">
            <a:avLst/>
          </a:prstGeom>
          <a:noFill/>
        </p:spPr>
        <p:txBody>
          <a:bodyPr wrap="square" lIns="54864" tIns="54864" rIns="54864" bIns="54864" anchor="t">
            <a:spAutoFit/>
          </a:bodyPr>
          <a:lstStyle/>
          <a:p>
            <a:pPr algn="r">
              <a:spcAft>
                <a:spcPts val="700"/>
              </a:spcAft>
              <a:defRPr sz="900" b="0">
                <a:solidFill>
                  <a:srgbClr val="5E6F7F"/>
                </a:solidFill>
                <a:latin typeface="Aptos"/>
              </a:defRPr>
            </a:pPr>
            <a:r>
              <a:t>3</a:t>
            </a:r>
          </a:p>
        </p:txBody>
      </p:sp>
      <p:sp>
        <p:nvSpPr>
          <p:cNvPr id="8" name="Rounded Rectangle 7"/>
          <p:cNvSpPr/>
          <p:nvPr/>
        </p:nvSpPr>
        <p:spPr>
          <a:xfrm>
            <a:off x="640080" y="1417320"/>
            <a:ext cx="2514600" cy="123444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81912"/>
            <a:ext cx="2240280" cy="541687"/>
          </a:xfrm>
          <a:prstGeom prst="rect">
            <a:avLst/>
          </a:prstGeom>
          <a:noFill/>
        </p:spPr>
        <p:txBody>
          <a:bodyPr wrap="square" lIns="54864" tIns="54864" rIns="54864" bIns="54864" anchor="t">
            <a:spAutoFit/>
          </a:bodyPr>
          <a:lstStyle/>
          <a:p>
            <a:pPr algn="ctr">
              <a:spcAft>
                <a:spcPts val="700"/>
              </a:spcAft>
              <a:defRPr sz="2800" b="1">
                <a:solidFill>
                  <a:srgbClr val="008991"/>
                </a:solidFill>
                <a:latin typeface="Aptos"/>
              </a:defRPr>
            </a:pPr>
            <a:r>
              <a:rPr lang="en-IN" dirty="0"/>
              <a:t>14,838</a:t>
            </a:r>
            <a:endParaRPr dirty="0"/>
          </a:p>
        </p:txBody>
      </p:sp>
      <p:sp>
        <p:nvSpPr>
          <p:cNvPr id="10" name="TextBox 9"/>
          <p:cNvSpPr txBox="1"/>
          <p:nvPr/>
        </p:nvSpPr>
        <p:spPr>
          <a:xfrm>
            <a:off x="777240" y="2139696"/>
            <a:ext cx="2240280" cy="274320"/>
          </a:xfrm>
          <a:prstGeom prst="rect">
            <a:avLst/>
          </a:prstGeom>
          <a:noFill/>
        </p:spPr>
        <p:txBody>
          <a:bodyPr wrap="square" lIns="54864" tIns="54864" rIns="54864" bIns="54864" anchor="t">
            <a:spAutoFit/>
          </a:bodyPr>
          <a:lstStyle/>
          <a:p>
            <a:pPr algn="ctr">
              <a:spcAft>
                <a:spcPts val="700"/>
              </a:spcAft>
              <a:defRPr sz="1300" b="0">
                <a:solidFill>
                  <a:srgbClr val="5E6F7F"/>
                </a:solidFill>
                <a:latin typeface="Aptos"/>
              </a:defRPr>
            </a:pPr>
            <a:r>
              <a:t>records</a:t>
            </a:r>
          </a:p>
        </p:txBody>
      </p:sp>
      <p:sp>
        <p:nvSpPr>
          <p:cNvPr id="11" name="Rounded Rectangle 10"/>
          <p:cNvSpPr/>
          <p:nvPr/>
        </p:nvSpPr>
        <p:spPr>
          <a:xfrm>
            <a:off x="4960620" y="1381059"/>
            <a:ext cx="2514600" cy="123444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975707" y="1613599"/>
            <a:ext cx="2240280" cy="541687"/>
          </a:xfrm>
          <a:prstGeom prst="rect">
            <a:avLst/>
          </a:prstGeom>
          <a:noFill/>
        </p:spPr>
        <p:txBody>
          <a:bodyPr wrap="square" lIns="54864" tIns="54864" rIns="54864" bIns="54864" anchor="t">
            <a:spAutoFit/>
          </a:bodyPr>
          <a:lstStyle/>
          <a:p>
            <a:pPr algn="ctr">
              <a:spcAft>
                <a:spcPts val="700"/>
              </a:spcAft>
              <a:defRPr sz="2800" b="1">
                <a:solidFill>
                  <a:srgbClr val="008991"/>
                </a:solidFill>
                <a:latin typeface="Aptos"/>
              </a:defRPr>
            </a:pPr>
            <a:r>
              <a:rPr lang="en-IN" dirty="0"/>
              <a:t>11</a:t>
            </a:r>
            <a:endParaRPr dirty="0"/>
          </a:p>
        </p:txBody>
      </p:sp>
      <p:sp>
        <p:nvSpPr>
          <p:cNvPr id="13" name="TextBox 12"/>
          <p:cNvSpPr txBox="1"/>
          <p:nvPr/>
        </p:nvSpPr>
        <p:spPr>
          <a:xfrm>
            <a:off x="4975707" y="2123599"/>
            <a:ext cx="2240280" cy="274320"/>
          </a:xfrm>
          <a:prstGeom prst="rect">
            <a:avLst/>
          </a:prstGeom>
          <a:noFill/>
        </p:spPr>
        <p:txBody>
          <a:bodyPr wrap="square" lIns="54864" tIns="54864" rIns="54864" bIns="54864" anchor="t">
            <a:spAutoFit/>
          </a:bodyPr>
          <a:lstStyle/>
          <a:p>
            <a:pPr algn="ctr">
              <a:spcAft>
                <a:spcPts val="700"/>
              </a:spcAft>
              <a:defRPr sz="1300" b="0">
                <a:solidFill>
                  <a:srgbClr val="5E6F7F"/>
                </a:solidFill>
                <a:latin typeface="Aptos"/>
              </a:defRPr>
            </a:pPr>
            <a:r>
              <a:t>original columns</a:t>
            </a:r>
          </a:p>
        </p:txBody>
      </p:sp>
      <p:sp>
        <p:nvSpPr>
          <p:cNvPr id="14" name="Rounded Rectangle 13"/>
          <p:cNvSpPr/>
          <p:nvPr/>
        </p:nvSpPr>
        <p:spPr>
          <a:xfrm>
            <a:off x="8641080" y="1338774"/>
            <a:ext cx="2514600" cy="123444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778240" y="1503366"/>
            <a:ext cx="2240280" cy="541687"/>
          </a:xfrm>
          <a:prstGeom prst="rect">
            <a:avLst/>
          </a:prstGeom>
          <a:noFill/>
        </p:spPr>
        <p:txBody>
          <a:bodyPr wrap="square" lIns="54864" tIns="54864" rIns="54864" bIns="54864" anchor="t">
            <a:spAutoFit/>
          </a:bodyPr>
          <a:lstStyle/>
          <a:p>
            <a:pPr algn="ctr">
              <a:spcAft>
                <a:spcPts val="700"/>
              </a:spcAft>
              <a:defRPr sz="2800" b="1">
                <a:solidFill>
                  <a:srgbClr val="008991"/>
                </a:solidFill>
                <a:latin typeface="Aptos"/>
              </a:defRPr>
            </a:pPr>
            <a:r>
              <a:rPr dirty="0"/>
              <a:t>2</a:t>
            </a:r>
            <a:r>
              <a:rPr lang="en-IN" dirty="0"/>
              <a:t>022 - 2024</a:t>
            </a:r>
            <a:endParaRPr dirty="0"/>
          </a:p>
        </p:txBody>
      </p:sp>
      <p:sp>
        <p:nvSpPr>
          <p:cNvPr id="16" name="TextBox 15"/>
          <p:cNvSpPr txBox="1"/>
          <p:nvPr/>
        </p:nvSpPr>
        <p:spPr>
          <a:xfrm>
            <a:off x="8778240" y="2061150"/>
            <a:ext cx="2240280" cy="310854"/>
          </a:xfrm>
          <a:prstGeom prst="rect">
            <a:avLst/>
          </a:prstGeom>
          <a:noFill/>
        </p:spPr>
        <p:txBody>
          <a:bodyPr wrap="square" lIns="54864" tIns="54864" rIns="54864" bIns="54864" anchor="t">
            <a:spAutoFit/>
          </a:bodyPr>
          <a:lstStyle/>
          <a:p>
            <a:pPr algn="ctr">
              <a:spcAft>
                <a:spcPts val="700"/>
              </a:spcAft>
              <a:defRPr sz="1300" b="0">
                <a:solidFill>
                  <a:srgbClr val="5E6F7F"/>
                </a:solidFill>
                <a:latin typeface="Aptos"/>
              </a:defRPr>
            </a:pPr>
            <a:r>
              <a:rPr lang="en-IN" dirty="0"/>
              <a:t>Time coverage</a:t>
            </a:r>
          </a:p>
        </p:txBody>
      </p:sp>
      <p:sp>
        <p:nvSpPr>
          <p:cNvPr id="20" name="Rounded Rectangle 19"/>
          <p:cNvSpPr/>
          <p:nvPr/>
        </p:nvSpPr>
        <p:spPr>
          <a:xfrm>
            <a:off x="640080" y="3063240"/>
            <a:ext cx="5303520" cy="228600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0080" y="3063240"/>
            <a:ext cx="73152" cy="2286000"/>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7" y="3227832"/>
            <a:ext cx="4937759" cy="32004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t>Original fields</a:t>
            </a:r>
          </a:p>
        </p:txBody>
      </p:sp>
      <p:sp>
        <p:nvSpPr>
          <p:cNvPr id="23" name="TextBox 22"/>
          <p:cNvSpPr txBox="1"/>
          <p:nvPr/>
        </p:nvSpPr>
        <p:spPr>
          <a:xfrm>
            <a:off x="841247" y="3639312"/>
            <a:ext cx="4919472" cy="1218795"/>
          </a:xfrm>
          <a:prstGeom prst="rect">
            <a:avLst/>
          </a:prstGeom>
          <a:noFill/>
        </p:spPr>
        <p:txBody>
          <a:bodyPr wrap="square" lIns="54864" tIns="54864" rIns="54864" bIns="54864" anchor="t">
            <a:spAutoFit/>
          </a:bodyPr>
          <a:lstStyle/>
          <a:p>
            <a:r>
              <a:rPr lang="en-IN" dirty="0" err="1"/>
              <a:t>work_year</a:t>
            </a:r>
            <a:r>
              <a:rPr lang="en-IN" dirty="0"/>
              <a:t>, </a:t>
            </a:r>
            <a:r>
              <a:rPr lang="en-IN" dirty="0" err="1"/>
              <a:t>experience_level</a:t>
            </a:r>
            <a:r>
              <a:rPr lang="en-IN" dirty="0"/>
              <a:t>, </a:t>
            </a:r>
            <a:r>
              <a:rPr lang="en-IN" dirty="0" err="1"/>
              <a:t>employment_type</a:t>
            </a:r>
            <a:r>
              <a:rPr lang="en-IN" dirty="0"/>
              <a:t>, </a:t>
            </a:r>
            <a:r>
              <a:rPr lang="en-IN" dirty="0" err="1"/>
              <a:t>job_title</a:t>
            </a:r>
            <a:r>
              <a:rPr lang="en-IN" dirty="0"/>
              <a:t>, salary, </a:t>
            </a:r>
            <a:r>
              <a:rPr lang="en-IN" dirty="0" err="1"/>
              <a:t>salary_currency</a:t>
            </a:r>
            <a:r>
              <a:rPr lang="en-IN" dirty="0"/>
              <a:t>, </a:t>
            </a:r>
            <a:r>
              <a:rPr lang="en-IN" dirty="0" err="1"/>
              <a:t>salary_in_usd</a:t>
            </a:r>
            <a:r>
              <a:rPr lang="en-IN" dirty="0"/>
              <a:t>, </a:t>
            </a:r>
            <a:r>
              <a:rPr lang="en-IN" dirty="0" err="1"/>
              <a:t>employee_residence</a:t>
            </a:r>
            <a:r>
              <a:rPr lang="en-IN" dirty="0"/>
              <a:t>, </a:t>
            </a:r>
            <a:r>
              <a:rPr lang="en-IN" dirty="0" err="1"/>
              <a:t>remote_ratio</a:t>
            </a:r>
            <a:r>
              <a:rPr lang="en-IN" dirty="0"/>
              <a:t>, </a:t>
            </a:r>
            <a:r>
              <a:rPr lang="en-IN" dirty="0" err="1"/>
              <a:t>company_location</a:t>
            </a:r>
            <a:r>
              <a:rPr lang="en-IN" dirty="0"/>
              <a:t>, </a:t>
            </a:r>
            <a:r>
              <a:rPr lang="en-IN" dirty="0" err="1"/>
              <a:t>company_size</a:t>
            </a:r>
            <a:endParaRPr lang="en-IN" dirty="0"/>
          </a:p>
        </p:txBody>
      </p:sp>
      <p:sp>
        <p:nvSpPr>
          <p:cNvPr id="24" name="Rounded Rectangle 23"/>
          <p:cNvSpPr/>
          <p:nvPr/>
        </p:nvSpPr>
        <p:spPr>
          <a:xfrm>
            <a:off x="6217920" y="3063240"/>
            <a:ext cx="5303520" cy="228600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217920" y="3063240"/>
            <a:ext cx="73152" cy="2286000"/>
          </a:xfrm>
          <a:prstGeom prst="rect">
            <a:avLst/>
          </a:prstGeom>
          <a:solidFill>
            <a:srgbClr val="EEAD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19088" y="3227832"/>
            <a:ext cx="4937759" cy="32004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rPr dirty="0"/>
              <a:t>Data characteristics</a:t>
            </a:r>
          </a:p>
        </p:txBody>
      </p:sp>
      <p:sp>
        <p:nvSpPr>
          <p:cNvPr id="27" name="TextBox 26"/>
          <p:cNvSpPr txBox="1"/>
          <p:nvPr/>
        </p:nvSpPr>
        <p:spPr>
          <a:xfrm>
            <a:off x="6419088" y="3559207"/>
            <a:ext cx="4919472" cy="1772793"/>
          </a:xfrm>
          <a:prstGeom prst="rect">
            <a:avLst/>
          </a:prstGeom>
          <a:noFill/>
        </p:spPr>
        <p:txBody>
          <a:bodyPr wrap="square" lIns="54864" tIns="54864" rIns="54864" bIns="54864" anchor="t">
            <a:spAutoFit/>
          </a:bodyPr>
          <a:lstStyle/>
          <a:p>
            <a:pPr marL="285750" lvl="0" indent="-285750">
              <a:buFont typeface="Arial" panose="020B0604020202020204" pitchFamily="34" charset="0"/>
              <a:buChar char="•"/>
            </a:pPr>
            <a:r>
              <a:rPr lang="en-IN" dirty="0"/>
              <a:t>Covers salary records from 2020–2024.</a:t>
            </a:r>
          </a:p>
          <a:p>
            <a:pPr marL="285750" lvl="0" indent="-285750">
              <a:buFont typeface="Arial" panose="020B0604020202020204" pitchFamily="34" charset="0"/>
              <a:buChar char="•"/>
            </a:pPr>
            <a:r>
              <a:rPr lang="en-IN" dirty="0"/>
              <a:t>Contains 153 unique job titles.</a:t>
            </a:r>
          </a:p>
          <a:p>
            <a:pPr marL="285750" lvl="0" indent="-285750">
              <a:buFont typeface="Arial" panose="020B0604020202020204" pitchFamily="34" charset="0"/>
              <a:buChar char="•"/>
            </a:pPr>
            <a:r>
              <a:rPr lang="en-IN" dirty="0"/>
              <a:t>Includes salary, experience, employment type, location, remote-work ratio, and company size.</a:t>
            </a:r>
          </a:p>
          <a:p>
            <a:pPr marL="285750" lvl="0" indent="-285750">
              <a:buFont typeface="Arial" panose="020B0604020202020204" pitchFamily="34" charset="0"/>
              <a:buChar char="•"/>
            </a:pPr>
            <a:r>
              <a:rPr lang="en-IN" dirty="0"/>
              <a:t>Original dataset has no missing values.</a:t>
            </a:r>
          </a:p>
          <a:p>
            <a:pPr marL="285750" lvl="0" indent="-285750">
              <a:buFont typeface="Arial" panose="020B0604020202020204" pitchFamily="34" charset="0"/>
              <a:buChar char="•"/>
            </a:pPr>
            <a:r>
              <a:rPr lang="en-IN" dirty="0"/>
              <a:t>Contains 5,711 exact duplicate rows.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BA93E-47B3-9295-C52E-53757762160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9C05C95-5B2B-4E50-BDA4-278F9AC099D2}"/>
              </a:ext>
            </a:extLst>
          </p:cNvPr>
          <p:cNvSpPr/>
          <p:nvPr/>
        </p:nvSpPr>
        <p:spPr>
          <a:xfrm>
            <a:off x="0" y="0"/>
            <a:ext cx="12191695" cy="146304"/>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8054574E-6D7D-02DC-0F27-755212F1B11E}"/>
              </a:ext>
            </a:extLst>
          </p:cNvPr>
          <p:cNvSpPr txBox="1"/>
          <p:nvPr/>
        </p:nvSpPr>
        <p:spPr>
          <a:xfrm>
            <a:off x="502920" y="320040"/>
            <a:ext cx="10881360" cy="502920"/>
          </a:xfrm>
          <a:prstGeom prst="rect">
            <a:avLst/>
          </a:prstGeom>
          <a:noFill/>
        </p:spPr>
        <p:txBody>
          <a:bodyPr wrap="square" lIns="54864" tIns="54864" rIns="54864" bIns="54864" anchor="t">
            <a:spAutoFit/>
          </a:bodyPr>
          <a:lstStyle/>
          <a:p>
            <a:pPr>
              <a:spcAft>
                <a:spcPts val="700"/>
              </a:spcAft>
              <a:defRPr sz="2800" b="1">
                <a:solidFill>
                  <a:srgbClr val="142B44"/>
                </a:solidFill>
                <a:latin typeface="Aptos"/>
              </a:defRPr>
            </a:pPr>
            <a:r>
              <a:t>Dataset description</a:t>
            </a:r>
          </a:p>
        </p:txBody>
      </p:sp>
      <p:sp>
        <p:nvSpPr>
          <p:cNvPr id="4" name="TextBox 3">
            <a:extLst>
              <a:ext uri="{FF2B5EF4-FFF2-40B4-BE49-F238E27FC236}">
                <a16:creationId xmlns:a16="http://schemas.microsoft.com/office/drawing/2014/main" id="{F2867EE6-64DE-12D7-F7B0-9FB436BD860A}"/>
              </a:ext>
            </a:extLst>
          </p:cNvPr>
          <p:cNvSpPr txBox="1"/>
          <p:nvPr/>
        </p:nvSpPr>
        <p:spPr>
          <a:xfrm>
            <a:off x="530352" y="859536"/>
            <a:ext cx="10972800" cy="387798"/>
          </a:xfrm>
          <a:prstGeom prst="rect">
            <a:avLst/>
          </a:prstGeom>
          <a:noFill/>
        </p:spPr>
        <p:txBody>
          <a:bodyPr wrap="square" lIns="54864" tIns="54864" rIns="54864" bIns="54864" anchor="t">
            <a:spAutoFit/>
          </a:bodyPr>
          <a:lstStyle/>
          <a:p>
            <a:r>
              <a:rPr lang="en-IN" dirty="0"/>
              <a:t>Dataset 2: Data Science Job Postings 2025</a:t>
            </a:r>
            <a:endParaRPr lang="en-IN" b="1" dirty="0"/>
          </a:p>
        </p:txBody>
      </p:sp>
      <p:sp>
        <p:nvSpPr>
          <p:cNvPr id="5" name="Rectangle 4">
            <a:extLst>
              <a:ext uri="{FF2B5EF4-FFF2-40B4-BE49-F238E27FC236}">
                <a16:creationId xmlns:a16="http://schemas.microsoft.com/office/drawing/2014/main" id="{95B16B7F-83A6-9B68-EFDB-D64E2F2F9254}"/>
              </a:ext>
            </a:extLst>
          </p:cNvPr>
          <p:cNvSpPr/>
          <p:nvPr/>
        </p:nvSpPr>
        <p:spPr>
          <a:xfrm>
            <a:off x="502920" y="6510528"/>
            <a:ext cx="11155680"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F124105F-7262-8020-5878-CB8DABB9C173}"/>
              </a:ext>
            </a:extLst>
          </p:cNvPr>
          <p:cNvSpPr txBox="1"/>
          <p:nvPr/>
        </p:nvSpPr>
        <p:spPr>
          <a:xfrm>
            <a:off x="11155680" y="6537960"/>
            <a:ext cx="457200" cy="201168"/>
          </a:xfrm>
          <a:prstGeom prst="rect">
            <a:avLst/>
          </a:prstGeom>
          <a:noFill/>
        </p:spPr>
        <p:txBody>
          <a:bodyPr wrap="square" lIns="54864" tIns="54864" rIns="54864" bIns="54864" anchor="t">
            <a:spAutoFit/>
          </a:bodyPr>
          <a:lstStyle/>
          <a:p>
            <a:pPr algn="r">
              <a:spcAft>
                <a:spcPts val="700"/>
              </a:spcAft>
              <a:defRPr sz="900" b="0">
                <a:solidFill>
                  <a:srgbClr val="5E6F7F"/>
                </a:solidFill>
                <a:latin typeface="Aptos"/>
              </a:defRPr>
            </a:pPr>
            <a:r>
              <a:t>3</a:t>
            </a:r>
          </a:p>
        </p:txBody>
      </p:sp>
      <p:sp>
        <p:nvSpPr>
          <p:cNvPr id="8" name="Rounded Rectangle 7">
            <a:extLst>
              <a:ext uri="{FF2B5EF4-FFF2-40B4-BE49-F238E27FC236}">
                <a16:creationId xmlns:a16="http://schemas.microsoft.com/office/drawing/2014/main" id="{092EFC09-A43C-A6E1-5CBF-BD79320DEA39}"/>
              </a:ext>
            </a:extLst>
          </p:cNvPr>
          <p:cNvSpPr/>
          <p:nvPr/>
        </p:nvSpPr>
        <p:spPr>
          <a:xfrm>
            <a:off x="640080" y="1417320"/>
            <a:ext cx="2514600" cy="123444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BC4867D4-C95A-2430-0E41-593D4683CBD4}"/>
              </a:ext>
            </a:extLst>
          </p:cNvPr>
          <p:cNvSpPr txBox="1"/>
          <p:nvPr/>
        </p:nvSpPr>
        <p:spPr>
          <a:xfrm>
            <a:off x="777240" y="1581912"/>
            <a:ext cx="2240280" cy="541687"/>
          </a:xfrm>
          <a:prstGeom prst="rect">
            <a:avLst/>
          </a:prstGeom>
          <a:noFill/>
        </p:spPr>
        <p:txBody>
          <a:bodyPr wrap="square" lIns="54864" tIns="54864" rIns="54864" bIns="54864" anchor="t">
            <a:spAutoFit/>
          </a:bodyPr>
          <a:lstStyle/>
          <a:p>
            <a:pPr algn="ctr">
              <a:spcAft>
                <a:spcPts val="700"/>
              </a:spcAft>
              <a:defRPr sz="2800" b="1">
                <a:solidFill>
                  <a:srgbClr val="008991"/>
                </a:solidFill>
                <a:latin typeface="Aptos"/>
              </a:defRPr>
            </a:pPr>
            <a:r>
              <a:rPr lang="en-IN" dirty="0"/>
              <a:t>944</a:t>
            </a:r>
            <a:endParaRPr dirty="0"/>
          </a:p>
        </p:txBody>
      </p:sp>
      <p:sp>
        <p:nvSpPr>
          <p:cNvPr id="10" name="TextBox 9">
            <a:extLst>
              <a:ext uri="{FF2B5EF4-FFF2-40B4-BE49-F238E27FC236}">
                <a16:creationId xmlns:a16="http://schemas.microsoft.com/office/drawing/2014/main" id="{1F566673-B8BA-CABB-A030-17180751D7CE}"/>
              </a:ext>
            </a:extLst>
          </p:cNvPr>
          <p:cNvSpPr txBox="1"/>
          <p:nvPr/>
        </p:nvSpPr>
        <p:spPr>
          <a:xfrm>
            <a:off x="777240" y="2139696"/>
            <a:ext cx="2240280" cy="274320"/>
          </a:xfrm>
          <a:prstGeom prst="rect">
            <a:avLst/>
          </a:prstGeom>
          <a:noFill/>
        </p:spPr>
        <p:txBody>
          <a:bodyPr wrap="square" lIns="54864" tIns="54864" rIns="54864" bIns="54864" anchor="t">
            <a:spAutoFit/>
          </a:bodyPr>
          <a:lstStyle/>
          <a:p>
            <a:pPr algn="ctr">
              <a:spcAft>
                <a:spcPts val="700"/>
              </a:spcAft>
              <a:defRPr sz="1300" b="0">
                <a:solidFill>
                  <a:srgbClr val="5E6F7F"/>
                </a:solidFill>
                <a:latin typeface="Aptos"/>
              </a:defRPr>
            </a:pPr>
            <a:r>
              <a:t>records</a:t>
            </a:r>
          </a:p>
        </p:txBody>
      </p:sp>
      <p:sp>
        <p:nvSpPr>
          <p:cNvPr id="11" name="Rounded Rectangle 10">
            <a:extLst>
              <a:ext uri="{FF2B5EF4-FFF2-40B4-BE49-F238E27FC236}">
                <a16:creationId xmlns:a16="http://schemas.microsoft.com/office/drawing/2014/main" id="{C2B06FE2-340B-5848-D8F5-86E05593BB70}"/>
              </a:ext>
            </a:extLst>
          </p:cNvPr>
          <p:cNvSpPr/>
          <p:nvPr/>
        </p:nvSpPr>
        <p:spPr>
          <a:xfrm>
            <a:off x="4960620" y="1381059"/>
            <a:ext cx="2514600" cy="123444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341CC59B-E403-CC1F-3EC4-10542486EDF6}"/>
              </a:ext>
            </a:extLst>
          </p:cNvPr>
          <p:cNvSpPr txBox="1"/>
          <p:nvPr/>
        </p:nvSpPr>
        <p:spPr>
          <a:xfrm>
            <a:off x="4975707" y="1613599"/>
            <a:ext cx="2240280" cy="541687"/>
          </a:xfrm>
          <a:prstGeom prst="rect">
            <a:avLst/>
          </a:prstGeom>
          <a:noFill/>
        </p:spPr>
        <p:txBody>
          <a:bodyPr wrap="square" lIns="54864" tIns="54864" rIns="54864" bIns="54864" anchor="t">
            <a:spAutoFit/>
          </a:bodyPr>
          <a:lstStyle/>
          <a:p>
            <a:pPr algn="ctr">
              <a:spcAft>
                <a:spcPts val="700"/>
              </a:spcAft>
              <a:defRPr sz="2800" b="1">
                <a:solidFill>
                  <a:srgbClr val="008991"/>
                </a:solidFill>
                <a:latin typeface="Aptos"/>
              </a:defRPr>
            </a:pPr>
            <a:r>
              <a:rPr lang="en-IN" dirty="0"/>
              <a:t>13</a:t>
            </a:r>
            <a:endParaRPr dirty="0"/>
          </a:p>
        </p:txBody>
      </p:sp>
      <p:sp>
        <p:nvSpPr>
          <p:cNvPr id="13" name="TextBox 12">
            <a:extLst>
              <a:ext uri="{FF2B5EF4-FFF2-40B4-BE49-F238E27FC236}">
                <a16:creationId xmlns:a16="http://schemas.microsoft.com/office/drawing/2014/main" id="{FC0CF786-57BD-8421-252F-1504F8A0709C}"/>
              </a:ext>
            </a:extLst>
          </p:cNvPr>
          <p:cNvSpPr txBox="1"/>
          <p:nvPr/>
        </p:nvSpPr>
        <p:spPr>
          <a:xfrm>
            <a:off x="4975707" y="2123599"/>
            <a:ext cx="2240280" cy="274320"/>
          </a:xfrm>
          <a:prstGeom prst="rect">
            <a:avLst/>
          </a:prstGeom>
          <a:noFill/>
        </p:spPr>
        <p:txBody>
          <a:bodyPr wrap="square" lIns="54864" tIns="54864" rIns="54864" bIns="54864" anchor="t">
            <a:spAutoFit/>
          </a:bodyPr>
          <a:lstStyle/>
          <a:p>
            <a:pPr algn="ctr">
              <a:spcAft>
                <a:spcPts val="700"/>
              </a:spcAft>
              <a:defRPr sz="1300" b="0">
                <a:solidFill>
                  <a:srgbClr val="5E6F7F"/>
                </a:solidFill>
                <a:latin typeface="Aptos"/>
              </a:defRPr>
            </a:pPr>
            <a:r>
              <a:t>original columns</a:t>
            </a:r>
          </a:p>
        </p:txBody>
      </p:sp>
      <p:sp>
        <p:nvSpPr>
          <p:cNvPr id="14" name="Rounded Rectangle 13">
            <a:extLst>
              <a:ext uri="{FF2B5EF4-FFF2-40B4-BE49-F238E27FC236}">
                <a16:creationId xmlns:a16="http://schemas.microsoft.com/office/drawing/2014/main" id="{28BB1015-C40C-5E6D-C260-A674835B1A1B}"/>
              </a:ext>
            </a:extLst>
          </p:cNvPr>
          <p:cNvSpPr/>
          <p:nvPr/>
        </p:nvSpPr>
        <p:spPr>
          <a:xfrm>
            <a:off x="8641080" y="1338774"/>
            <a:ext cx="2514600" cy="123444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4A7CD1F6-34A2-3BF1-B1B6-CCE9541D5ED4}"/>
              </a:ext>
            </a:extLst>
          </p:cNvPr>
          <p:cNvSpPr txBox="1"/>
          <p:nvPr/>
        </p:nvSpPr>
        <p:spPr>
          <a:xfrm>
            <a:off x="8778240" y="1503366"/>
            <a:ext cx="2240280" cy="541687"/>
          </a:xfrm>
          <a:prstGeom prst="rect">
            <a:avLst/>
          </a:prstGeom>
          <a:noFill/>
        </p:spPr>
        <p:txBody>
          <a:bodyPr wrap="square" lIns="54864" tIns="54864" rIns="54864" bIns="54864" anchor="t">
            <a:spAutoFit/>
          </a:bodyPr>
          <a:lstStyle/>
          <a:p>
            <a:pPr algn="ctr">
              <a:spcAft>
                <a:spcPts val="700"/>
              </a:spcAft>
              <a:defRPr sz="2800" b="1">
                <a:solidFill>
                  <a:srgbClr val="008991"/>
                </a:solidFill>
                <a:latin typeface="Aptos"/>
              </a:defRPr>
            </a:pPr>
            <a:r>
              <a:rPr dirty="0"/>
              <a:t>2</a:t>
            </a:r>
            <a:r>
              <a:rPr lang="en-IN" dirty="0"/>
              <a:t>025</a:t>
            </a:r>
            <a:endParaRPr dirty="0"/>
          </a:p>
        </p:txBody>
      </p:sp>
      <p:sp>
        <p:nvSpPr>
          <p:cNvPr id="16" name="TextBox 15">
            <a:extLst>
              <a:ext uri="{FF2B5EF4-FFF2-40B4-BE49-F238E27FC236}">
                <a16:creationId xmlns:a16="http://schemas.microsoft.com/office/drawing/2014/main" id="{CDF26CFA-A3DA-2C6A-D13D-2371386763D1}"/>
              </a:ext>
            </a:extLst>
          </p:cNvPr>
          <p:cNvSpPr txBox="1"/>
          <p:nvPr/>
        </p:nvSpPr>
        <p:spPr>
          <a:xfrm>
            <a:off x="8778240" y="2061150"/>
            <a:ext cx="2240280" cy="310854"/>
          </a:xfrm>
          <a:prstGeom prst="rect">
            <a:avLst/>
          </a:prstGeom>
          <a:noFill/>
        </p:spPr>
        <p:txBody>
          <a:bodyPr wrap="square" lIns="54864" tIns="54864" rIns="54864" bIns="54864" anchor="t">
            <a:spAutoFit/>
          </a:bodyPr>
          <a:lstStyle/>
          <a:p>
            <a:pPr algn="ctr">
              <a:spcAft>
                <a:spcPts val="700"/>
              </a:spcAft>
              <a:defRPr sz="1300" b="0">
                <a:solidFill>
                  <a:srgbClr val="5E6F7F"/>
                </a:solidFill>
                <a:latin typeface="Aptos"/>
              </a:defRPr>
            </a:pPr>
            <a:r>
              <a:rPr lang="en-IN" dirty="0"/>
              <a:t>Time coverage</a:t>
            </a:r>
          </a:p>
        </p:txBody>
      </p:sp>
      <p:sp>
        <p:nvSpPr>
          <p:cNvPr id="20" name="Rounded Rectangle 19">
            <a:extLst>
              <a:ext uri="{FF2B5EF4-FFF2-40B4-BE49-F238E27FC236}">
                <a16:creationId xmlns:a16="http://schemas.microsoft.com/office/drawing/2014/main" id="{505D694E-450D-8711-2974-67D65065C55A}"/>
              </a:ext>
            </a:extLst>
          </p:cNvPr>
          <p:cNvSpPr/>
          <p:nvPr/>
        </p:nvSpPr>
        <p:spPr>
          <a:xfrm>
            <a:off x="640080" y="3063240"/>
            <a:ext cx="5303520" cy="228600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45AF093E-63EA-7FD2-24DA-AA4B2B15BC16}"/>
              </a:ext>
            </a:extLst>
          </p:cNvPr>
          <p:cNvSpPr/>
          <p:nvPr/>
        </p:nvSpPr>
        <p:spPr>
          <a:xfrm>
            <a:off x="640080" y="3063240"/>
            <a:ext cx="73152" cy="2286000"/>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D627C944-BF53-610C-0D2A-3696E81F9AB8}"/>
              </a:ext>
            </a:extLst>
          </p:cNvPr>
          <p:cNvSpPr txBox="1"/>
          <p:nvPr/>
        </p:nvSpPr>
        <p:spPr>
          <a:xfrm>
            <a:off x="841247" y="3227832"/>
            <a:ext cx="4937759" cy="32004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t>Original fields</a:t>
            </a:r>
          </a:p>
        </p:txBody>
      </p:sp>
      <p:sp>
        <p:nvSpPr>
          <p:cNvPr id="23" name="TextBox 22">
            <a:extLst>
              <a:ext uri="{FF2B5EF4-FFF2-40B4-BE49-F238E27FC236}">
                <a16:creationId xmlns:a16="http://schemas.microsoft.com/office/drawing/2014/main" id="{CDCE0251-ADAD-8645-CAA4-DC73F8BFFE8F}"/>
              </a:ext>
            </a:extLst>
          </p:cNvPr>
          <p:cNvSpPr txBox="1"/>
          <p:nvPr/>
        </p:nvSpPr>
        <p:spPr>
          <a:xfrm>
            <a:off x="841247" y="3639312"/>
            <a:ext cx="4919472" cy="941796"/>
          </a:xfrm>
          <a:prstGeom prst="rect">
            <a:avLst/>
          </a:prstGeom>
          <a:noFill/>
        </p:spPr>
        <p:txBody>
          <a:bodyPr wrap="square" lIns="54864" tIns="54864" rIns="54864" bIns="54864" anchor="t">
            <a:spAutoFit/>
          </a:bodyPr>
          <a:lstStyle/>
          <a:p>
            <a:r>
              <a:rPr lang="en-IN" dirty="0" err="1"/>
              <a:t>job_title</a:t>
            </a:r>
            <a:r>
              <a:rPr lang="en-IN" dirty="0"/>
              <a:t>, </a:t>
            </a:r>
            <a:r>
              <a:rPr lang="en-IN" dirty="0" err="1"/>
              <a:t>seniority_level</a:t>
            </a:r>
            <a:r>
              <a:rPr lang="en-IN" dirty="0"/>
              <a:t>, status, company, location, </a:t>
            </a:r>
            <a:r>
              <a:rPr lang="en-IN" dirty="0" err="1"/>
              <a:t>post_date</a:t>
            </a:r>
            <a:r>
              <a:rPr lang="en-IN" dirty="0"/>
              <a:t>, headquarter, industry, ownership, </a:t>
            </a:r>
            <a:r>
              <a:rPr lang="en-IN" dirty="0" err="1"/>
              <a:t>company_size</a:t>
            </a:r>
            <a:r>
              <a:rPr lang="en-IN" dirty="0"/>
              <a:t>, revenue, salary, skills</a:t>
            </a:r>
          </a:p>
        </p:txBody>
      </p:sp>
      <p:sp>
        <p:nvSpPr>
          <p:cNvPr id="24" name="Rounded Rectangle 23">
            <a:extLst>
              <a:ext uri="{FF2B5EF4-FFF2-40B4-BE49-F238E27FC236}">
                <a16:creationId xmlns:a16="http://schemas.microsoft.com/office/drawing/2014/main" id="{AD626654-5583-3A23-469C-67FA074C0C22}"/>
              </a:ext>
            </a:extLst>
          </p:cNvPr>
          <p:cNvSpPr/>
          <p:nvPr/>
        </p:nvSpPr>
        <p:spPr>
          <a:xfrm>
            <a:off x="6217920" y="3063240"/>
            <a:ext cx="5303520" cy="228600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a:extLst>
              <a:ext uri="{FF2B5EF4-FFF2-40B4-BE49-F238E27FC236}">
                <a16:creationId xmlns:a16="http://schemas.microsoft.com/office/drawing/2014/main" id="{18F7E992-7A76-969C-90EB-EE1A6736D6E0}"/>
              </a:ext>
            </a:extLst>
          </p:cNvPr>
          <p:cNvSpPr/>
          <p:nvPr/>
        </p:nvSpPr>
        <p:spPr>
          <a:xfrm>
            <a:off x="6217920" y="3063240"/>
            <a:ext cx="73152" cy="2286000"/>
          </a:xfrm>
          <a:prstGeom prst="rect">
            <a:avLst/>
          </a:prstGeom>
          <a:solidFill>
            <a:srgbClr val="EEAD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FB926345-1F23-92FC-D0C4-D60160CCF08E}"/>
              </a:ext>
            </a:extLst>
          </p:cNvPr>
          <p:cNvSpPr txBox="1"/>
          <p:nvPr/>
        </p:nvSpPr>
        <p:spPr>
          <a:xfrm>
            <a:off x="6419088" y="3227832"/>
            <a:ext cx="4937759" cy="32004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rPr dirty="0"/>
              <a:t>Data characteristics</a:t>
            </a:r>
          </a:p>
        </p:txBody>
      </p:sp>
      <p:sp>
        <p:nvSpPr>
          <p:cNvPr id="27" name="TextBox 26">
            <a:extLst>
              <a:ext uri="{FF2B5EF4-FFF2-40B4-BE49-F238E27FC236}">
                <a16:creationId xmlns:a16="http://schemas.microsoft.com/office/drawing/2014/main" id="{DCA2EB2A-A3FB-568C-10CD-1E99C092A807}"/>
              </a:ext>
            </a:extLst>
          </p:cNvPr>
          <p:cNvSpPr txBox="1"/>
          <p:nvPr/>
        </p:nvSpPr>
        <p:spPr>
          <a:xfrm>
            <a:off x="6419088" y="3559207"/>
            <a:ext cx="4965192" cy="1772793"/>
          </a:xfrm>
          <a:prstGeom prst="rect">
            <a:avLst/>
          </a:prstGeom>
          <a:noFill/>
        </p:spPr>
        <p:txBody>
          <a:bodyPr wrap="square" lIns="54864" tIns="54864" rIns="54864" bIns="54864" anchor="t">
            <a:spAutoFit/>
          </a:bodyPr>
          <a:lstStyle/>
          <a:p>
            <a:pPr marL="285750" lvl="0" indent="-285750">
              <a:buFont typeface="Arial" panose="020B0604020202020204" pitchFamily="34" charset="0"/>
              <a:buChar char="•"/>
            </a:pPr>
            <a:r>
              <a:rPr lang="en-IN" sz="1200" dirty="0"/>
              <a:t>Contains job posting information for 2025.</a:t>
            </a:r>
          </a:p>
          <a:p>
            <a:pPr marL="285750" lvl="0" indent="-285750">
              <a:buFont typeface="Arial" panose="020B0604020202020204" pitchFamily="34" charset="0"/>
              <a:buChar char="•"/>
            </a:pPr>
            <a:r>
              <a:rPr lang="en-IN" sz="1200" dirty="0"/>
              <a:t>Includes role, seniority, company, location, industry, salary, and required skills.</a:t>
            </a:r>
          </a:p>
          <a:p>
            <a:pPr marL="285750" lvl="0" indent="-285750">
              <a:buFont typeface="Arial" panose="020B0604020202020204" pitchFamily="34" charset="0"/>
              <a:buChar char="•"/>
            </a:pPr>
            <a:r>
              <a:rPr lang="en-IN" sz="1200" dirty="0"/>
              <a:t>Has missing values in six fields: </a:t>
            </a:r>
            <a:r>
              <a:rPr lang="en-IN" sz="1200" dirty="0" err="1"/>
              <a:t>job_title</a:t>
            </a:r>
            <a:r>
              <a:rPr lang="en-IN" sz="1200" dirty="0"/>
              <a:t> (3), </a:t>
            </a:r>
            <a:r>
              <a:rPr lang="en-IN" sz="1200" dirty="0" err="1"/>
              <a:t>seniority_level</a:t>
            </a:r>
            <a:r>
              <a:rPr lang="en-IN" sz="1200" dirty="0"/>
              <a:t> (60), status (256), ownership (47), revenue (15), and location (2).</a:t>
            </a:r>
          </a:p>
          <a:p>
            <a:pPr marL="285750" lvl="0" indent="-285750">
              <a:buFont typeface="Arial" panose="020B0604020202020204" pitchFamily="34" charset="0"/>
              <a:buChar char="•"/>
            </a:pPr>
            <a:r>
              <a:rPr lang="en-IN" sz="1200" dirty="0"/>
              <a:t>The salary field is text-formatted and may contain currency symbols; currency and pay period are not consistently established.</a:t>
            </a:r>
          </a:p>
          <a:p>
            <a:pPr marL="285750" lvl="0" indent="-285750">
              <a:buFont typeface="Arial" panose="020B0604020202020204" pitchFamily="34" charset="0"/>
              <a:buChar char="•"/>
            </a:pPr>
            <a:r>
              <a:rPr lang="en-IN" sz="1200" dirty="0"/>
              <a:t>Useful for </a:t>
            </a:r>
            <a:r>
              <a:rPr lang="en-IN" sz="1200" dirty="0" err="1"/>
              <a:t>analyzing</a:t>
            </a:r>
            <a:r>
              <a:rPr lang="en-IN" sz="1200" dirty="0"/>
              <a:t> in-demand skills, job locations, seniority, and industry.</a:t>
            </a:r>
          </a:p>
        </p:txBody>
      </p:sp>
    </p:spTree>
    <p:extLst>
      <p:ext uri="{BB962C8B-B14F-4D97-AF65-F5344CB8AC3E}">
        <p14:creationId xmlns:p14="http://schemas.microsoft.com/office/powerpoint/2010/main" val="3858422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881360" cy="502920"/>
          </a:xfrm>
          <a:prstGeom prst="rect">
            <a:avLst/>
          </a:prstGeom>
          <a:noFill/>
        </p:spPr>
        <p:txBody>
          <a:bodyPr wrap="square" lIns="54864" tIns="54864" rIns="54864" bIns="54864" anchor="t">
            <a:spAutoFit/>
          </a:bodyPr>
          <a:lstStyle/>
          <a:p>
            <a:pPr>
              <a:spcAft>
                <a:spcPts val="700"/>
              </a:spcAft>
              <a:defRPr sz="2800" b="1">
                <a:solidFill>
                  <a:srgbClr val="142B44"/>
                </a:solidFill>
                <a:latin typeface="Aptos"/>
              </a:defRPr>
            </a:pPr>
            <a:r>
              <a:t>Data quality and preprocessing</a:t>
            </a:r>
          </a:p>
        </p:txBody>
      </p:sp>
      <p:sp>
        <p:nvSpPr>
          <p:cNvPr id="4" name="TextBox 3"/>
          <p:cNvSpPr txBox="1"/>
          <p:nvPr/>
        </p:nvSpPr>
        <p:spPr>
          <a:xfrm>
            <a:off x="530352" y="859536"/>
            <a:ext cx="10972800" cy="347472"/>
          </a:xfrm>
          <a:prstGeom prst="rect">
            <a:avLst/>
          </a:prstGeom>
          <a:noFill/>
        </p:spPr>
        <p:txBody>
          <a:bodyPr wrap="square" lIns="54864" tIns="54864" rIns="54864" bIns="54864" anchor="t">
            <a:spAutoFit/>
          </a:bodyPr>
          <a:lstStyle/>
          <a:p>
            <a:pPr>
              <a:spcAft>
                <a:spcPts val="700"/>
              </a:spcAft>
              <a:defRPr sz="1100" b="0">
                <a:solidFill>
                  <a:srgbClr val="5E6F7F"/>
                </a:solidFill>
                <a:latin typeface="Aptos"/>
              </a:defRPr>
            </a:pPr>
            <a:r>
              <a:t>Cleaning choices designed to preserve meaning</a:t>
            </a:r>
          </a:p>
        </p:txBody>
      </p:sp>
      <p:sp>
        <p:nvSpPr>
          <p:cNvPr id="5" name="Rectangle 4"/>
          <p:cNvSpPr/>
          <p:nvPr/>
        </p:nvSpPr>
        <p:spPr>
          <a:xfrm>
            <a:off x="502920" y="6510528"/>
            <a:ext cx="11155680"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37960"/>
            <a:ext cx="457200" cy="201168"/>
          </a:xfrm>
          <a:prstGeom prst="rect">
            <a:avLst/>
          </a:prstGeom>
          <a:noFill/>
        </p:spPr>
        <p:txBody>
          <a:bodyPr wrap="square" lIns="54864" tIns="54864" rIns="54864" bIns="54864" anchor="t">
            <a:spAutoFit/>
          </a:bodyPr>
          <a:lstStyle/>
          <a:p>
            <a:pPr algn="r">
              <a:spcAft>
                <a:spcPts val="700"/>
              </a:spcAft>
              <a:defRPr sz="900" b="0">
                <a:solidFill>
                  <a:srgbClr val="5E6F7F"/>
                </a:solidFill>
                <a:latin typeface="Aptos"/>
              </a:defRPr>
            </a:pPr>
            <a:r>
              <a:t>4</a:t>
            </a:r>
          </a:p>
        </p:txBody>
      </p:sp>
      <p:sp>
        <p:nvSpPr>
          <p:cNvPr id="8" name="Rounded Rectangle 7"/>
          <p:cNvSpPr/>
          <p:nvPr/>
        </p:nvSpPr>
        <p:spPr>
          <a:xfrm>
            <a:off x="594360" y="1325880"/>
            <a:ext cx="5257800" cy="1298448"/>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463039"/>
            <a:ext cx="1325880" cy="495520"/>
          </a:xfrm>
          <a:prstGeom prst="rect">
            <a:avLst/>
          </a:prstGeom>
          <a:noFill/>
        </p:spPr>
        <p:txBody>
          <a:bodyPr wrap="square" lIns="54864" tIns="54864" rIns="54864" bIns="54864" anchor="t">
            <a:spAutoFit/>
          </a:bodyPr>
          <a:lstStyle/>
          <a:p>
            <a:pPr>
              <a:spcAft>
                <a:spcPts val="700"/>
              </a:spcAft>
              <a:defRPr sz="2500" b="1">
                <a:solidFill>
                  <a:srgbClr val="008991"/>
                </a:solidFill>
                <a:latin typeface="Aptos"/>
              </a:defRPr>
            </a:pPr>
            <a:r>
              <a:rPr lang="en-IN" dirty="0"/>
              <a:t>383</a:t>
            </a:r>
            <a:endParaRPr dirty="0"/>
          </a:p>
        </p:txBody>
      </p:sp>
      <p:sp>
        <p:nvSpPr>
          <p:cNvPr id="10" name="TextBox 9"/>
          <p:cNvSpPr txBox="1"/>
          <p:nvPr/>
        </p:nvSpPr>
        <p:spPr>
          <a:xfrm>
            <a:off x="2148840" y="1463039"/>
            <a:ext cx="3474720" cy="320040"/>
          </a:xfrm>
          <a:prstGeom prst="rect">
            <a:avLst/>
          </a:prstGeom>
          <a:noFill/>
        </p:spPr>
        <p:txBody>
          <a:bodyPr wrap="square" lIns="54864" tIns="54864" rIns="54864" bIns="54864" anchor="t">
            <a:spAutoFit/>
          </a:bodyPr>
          <a:lstStyle/>
          <a:p>
            <a:pPr>
              <a:spcAft>
                <a:spcPts val="700"/>
              </a:spcAft>
              <a:defRPr sz="1400" b="1">
                <a:solidFill>
                  <a:srgbClr val="142B44"/>
                </a:solidFill>
                <a:latin typeface="Aptos"/>
              </a:defRPr>
            </a:pPr>
            <a:r>
              <a:t>missing / non-numeric Value entries</a:t>
            </a:r>
          </a:p>
        </p:txBody>
      </p:sp>
      <p:sp>
        <p:nvSpPr>
          <p:cNvPr id="11" name="TextBox 10"/>
          <p:cNvSpPr txBox="1"/>
          <p:nvPr/>
        </p:nvSpPr>
        <p:spPr>
          <a:xfrm>
            <a:off x="2148840" y="1847088"/>
            <a:ext cx="3383280" cy="295466"/>
          </a:xfrm>
          <a:prstGeom prst="rect">
            <a:avLst/>
          </a:prstGeom>
          <a:noFill/>
        </p:spPr>
        <p:txBody>
          <a:bodyPr wrap="square" lIns="54864" tIns="54864" rIns="54864" bIns="54864" anchor="t">
            <a:spAutoFit/>
          </a:bodyPr>
          <a:lstStyle/>
          <a:p>
            <a:pPr>
              <a:spcAft>
                <a:spcPts val="700"/>
              </a:spcAft>
              <a:defRPr sz="1200" b="0">
                <a:solidFill>
                  <a:srgbClr val="5E6F7F"/>
                </a:solidFill>
                <a:latin typeface="Aptos"/>
              </a:defRPr>
            </a:pPr>
            <a:r>
              <a:rPr lang="en-IN" dirty="0"/>
              <a:t>Across the listed columns in 944 record</a:t>
            </a:r>
            <a:endParaRPr dirty="0"/>
          </a:p>
        </p:txBody>
      </p:sp>
      <p:sp>
        <p:nvSpPr>
          <p:cNvPr id="12" name="Rounded Rectangle 11"/>
          <p:cNvSpPr/>
          <p:nvPr/>
        </p:nvSpPr>
        <p:spPr>
          <a:xfrm>
            <a:off x="6309360" y="1325880"/>
            <a:ext cx="5257800" cy="1298448"/>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1463039"/>
            <a:ext cx="1325880" cy="495520"/>
          </a:xfrm>
          <a:prstGeom prst="rect">
            <a:avLst/>
          </a:prstGeom>
          <a:noFill/>
        </p:spPr>
        <p:txBody>
          <a:bodyPr wrap="square" lIns="54864" tIns="54864" rIns="54864" bIns="54864" anchor="t">
            <a:spAutoFit/>
          </a:bodyPr>
          <a:lstStyle/>
          <a:p>
            <a:pPr>
              <a:spcAft>
                <a:spcPts val="700"/>
              </a:spcAft>
              <a:defRPr sz="2500" b="1">
                <a:solidFill>
                  <a:srgbClr val="008991"/>
                </a:solidFill>
                <a:latin typeface="Aptos"/>
              </a:defRPr>
            </a:pPr>
            <a:r>
              <a:rPr lang="en-IN" dirty="0"/>
              <a:t>0</a:t>
            </a:r>
            <a:endParaRPr dirty="0"/>
          </a:p>
        </p:txBody>
      </p:sp>
      <p:sp>
        <p:nvSpPr>
          <p:cNvPr id="14" name="TextBox 13"/>
          <p:cNvSpPr txBox="1"/>
          <p:nvPr/>
        </p:nvSpPr>
        <p:spPr>
          <a:xfrm>
            <a:off x="7863840" y="1463039"/>
            <a:ext cx="3474720" cy="326243"/>
          </a:xfrm>
          <a:prstGeom prst="rect">
            <a:avLst/>
          </a:prstGeom>
          <a:noFill/>
        </p:spPr>
        <p:txBody>
          <a:bodyPr wrap="square" lIns="54864" tIns="54864" rIns="54864" bIns="54864" anchor="t">
            <a:spAutoFit/>
          </a:bodyPr>
          <a:lstStyle/>
          <a:p>
            <a:pPr>
              <a:spcAft>
                <a:spcPts val="700"/>
              </a:spcAft>
              <a:defRPr sz="1400" b="1">
                <a:solidFill>
                  <a:srgbClr val="142B44"/>
                </a:solidFill>
                <a:latin typeface="Aptos"/>
              </a:defRPr>
            </a:pPr>
            <a:r>
              <a:rPr lang="en-IN" dirty="0"/>
              <a:t>Missing salary dataset values</a:t>
            </a:r>
            <a:endParaRPr dirty="0"/>
          </a:p>
        </p:txBody>
      </p:sp>
      <p:sp>
        <p:nvSpPr>
          <p:cNvPr id="15" name="TextBox 14"/>
          <p:cNvSpPr txBox="1"/>
          <p:nvPr/>
        </p:nvSpPr>
        <p:spPr>
          <a:xfrm>
            <a:off x="7863840" y="1847088"/>
            <a:ext cx="3383280" cy="480131"/>
          </a:xfrm>
          <a:prstGeom prst="rect">
            <a:avLst/>
          </a:prstGeom>
          <a:noFill/>
        </p:spPr>
        <p:txBody>
          <a:bodyPr wrap="square" lIns="54864" tIns="54864" rIns="54864" bIns="54864" anchor="t">
            <a:spAutoFit/>
          </a:bodyPr>
          <a:lstStyle/>
          <a:p>
            <a:pPr>
              <a:spcAft>
                <a:spcPts val="700"/>
              </a:spcAft>
              <a:defRPr sz="1200" b="0">
                <a:solidFill>
                  <a:srgbClr val="5E6F7F"/>
                </a:solidFill>
                <a:latin typeface="Aptos"/>
              </a:defRPr>
            </a:pPr>
            <a:r>
              <a:rPr lang="en-IN" dirty="0"/>
              <a:t>No missing values in the original 14,838-row dataset</a:t>
            </a:r>
            <a:endParaRPr dirty="0"/>
          </a:p>
        </p:txBody>
      </p:sp>
      <p:sp>
        <p:nvSpPr>
          <p:cNvPr id="16" name="Rounded Rectangle 15"/>
          <p:cNvSpPr/>
          <p:nvPr/>
        </p:nvSpPr>
        <p:spPr>
          <a:xfrm>
            <a:off x="594360" y="2926080"/>
            <a:ext cx="5257800" cy="1298448"/>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3063240"/>
            <a:ext cx="1325880" cy="495520"/>
          </a:xfrm>
          <a:prstGeom prst="rect">
            <a:avLst/>
          </a:prstGeom>
          <a:noFill/>
        </p:spPr>
        <p:txBody>
          <a:bodyPr wrap="square" lIns="54864" tIns="54864" rIns="54864" bIns="54864" anchor="t">
            <a:spAutoFit/>
          </a:bodyPr>
          <a:lstStyle/>
          <a:p>
            <a:pPr>
              <a:spcAft>
                <a:spcPts val="700"/>
              </a:spcAft>
              <a:defRPr sz="2500" b="1">
                <a:solidFill>
                  <a:srgbClr val="008991"/>
                </a:solidFill>
                <a:latin typeface="Aptos"/>
              </a:defRPr>
            </a:pPr>
            <a:r>
              <a:rPr lang="en-IN" dirty="0"/>
              <a:t>5,711</a:t>
            </a:r>
            <a:endParaRPr dirty="0"/>
          </a:p>
        </p:txBody>
      </p:sp>
      <p:sp>
        <p:nvSpPr>
          <p:cNvPr id="18" name="TextBox 17"/>
          <p:cNvSpPr txBox="1"/>
          <p:nvPr/>
        </p:nvSpPr>
        <p:spPr>
          <a:xfrm>
            <a:off x="2148840" y="3063240"/>
            <a:ext cx="3474720" cy="320040"/>
          </a:xfrm>
          <a:prstGeom prst="rect">
            <a:avLst/>
          </a:prstGeom>
          <a:noFill/>
        </p:spPr>
        <p:txBody>
          <a:bodyPr wrap="square" lIns="54864" tIns="54864" rIns="54864" bIns="54864" anchor="t">
            <a:spAutoFit/>
          </a:bodyPr>
          <a:lstStyle/>
          <a:p>
            <a:pPr>
              <a:spcAft>
                <a:spcPts val="700"/>
              </a:spcAft>
              <a:defRPr sz="1400" b="1">
                <a:solidFill>
                  <a:srgbClr val="142B44"/>
                </a:solidFill>
                <a:latin typeface="Aptos"/>
              </a:defRPr>
            </a:pPr>
            <a:r>
              <a:t>exact duplicate rows</a:t>
            </a:r>
          </a:p>
        </p:txBody>
      </p:sp>
      <p:sp>
        <p:nvSpPr>
          <p:cNvPr id="19" name="TextBox 18"/>
          <p:cNvSpPr txBox="1"/>
          <p:nvPr/>
        </p:nvSpPr>
        <p:spPr>
          <a:xfrm>
            <a:off x="2148840" y="3447288"/>
            <a:ext cx="3383280" cy="295466"/>
          </a:xfrm>
          <a:prstGeom prst="rect">
            <a:avLst/>
          </a:prstGeom>
          <a:noFill/>
        </p:spPr>
        <p:txBody>
          <a:bodyPr wrap="square" lIns="54864" tIns="54864" rIns="54864" bIns="54864" anchor="t">
            <a:spAutoFit/>
          </a:bodyPr>
          <a:lstStyle/>
          <a:p>
            <a:pPr>
              <a:spcAft>
                <a:spcPts val="700"/>
              </a:spcAft>
              <a:defRPr sz="1200" b="0">
                <a:solidFill>
                  <a:srgbClr val="5E6F7F"/>
                </a:solidFill>
                <a:latin typeface="Aptos"/>
              </a:defRPr>
            </a:pPr>
            <a:r>
              <a:rPr lang="en-IN" dirty="0"/>
              <a:t>Identified in the original  salary dataset</a:t>
            </a:r>
            <a:endParaRPr dirty="0"/>
          </a:p>
        </p:txBody>
      </p:sp>
      <p:sp>
        <p:nvSpPr>
          <p:cNvPr id="20" name="Rounded Rectangle 19"/>
          <p:cNvSpPr/>
          <p:nvPr/>
        </p:nvSpPr>
        <p:spPr>
          <a:xfrm>
            <a:off x="6309360" y="2926080"/>
            <a:ext cx="5257800" cy="1298448"/>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92240" y="3063240"/>
            <a:ext cx="1325880" cy="495520"/>
          </a:xfrm>
          <a:prstGeom prst="rect">
            <a:avLst/>
          </a:prstGeom>
          <a:noFill/>
        </p:spPr>
        <p:txBody>
          <a:bodyPr wrap="square" lIns="54864" tIns="54864" rIns="54864" bIns="54864" anchor="t">
            <a:spAutoFit/>
          </a:bodyPr>
          <a:lstStyle/>
          <a:p>
            <a:pPr>
              <a:spcAft>
                <a:spcPts val="700"/>
              </a:spcAft>
              <a:defRPr sz="2500" b="1">
                <a:solidFill>
                  <a:srgbClr val="008991"/>
                </a:solidFill>
                <a:latin typeface="Aptos"/>
              </a:defRPr>
            </a:pPr>
            <a:r>
              <a:rPr lang="en-IN" dirty="0"/>
              <a:t>2</a:t>
            </a:r>
            <a:endParaRPr dirty="0"/>
          </a:p>
        </p:txBody>
      </p:sp>
      <p:sp>
        <p:nvSpPr>
          <p:cNvPr id="22" name="TextBox 21"/>
          <p:cNvSpPr txBox="1"/>
          <p:nvPr/>
        </p:nvSpPr>
        <p:spPr>
          <a:xfrm>
            <a:off x="7863840" y="3063240"/>
            <a:ext cx="3474720" cy="326243"/>
          </a:xfrm>
          <a:prstGeom prst="rect">
            <a:avLst/>
          </a:prstGeom>
          <a:noFill/>
        </p:spPr>
        <p:txBody>
          <a:bodyPr wrap="square" lIns="54864" tIns="54864" rIns="54864" bIns="54864" anchor="t">
            <a:spAutoFit/>
          </a:bodyPr>
          <a:lstStyle/>
          <a:p>
            <a:pPr>
              <a:spcAft>
                <a:spcPts val="700"/>
              </a:spcAft>
              <a:defRPr sz="1400" b="1">
                <a:solidFill>
                  <a:srgbClr val="142B44"/>
                </a:solidFill>
                <a:latin typeface="Aptos"/>
              </a:defRPr>
            </a:pPr>
            <a:r>
              <a:rPr lang="en-IN" dirty="0"/>
              <a:t>Datasets </a:t>
            </a:r>
            <a:r>
              <a:rPr lang="en-IN" dirty="0" err="1"/>
              <a:t>analyzed</a:t>
            </a:r>
            <a:endParaRPr dirty="0"/>
          </a:p>
        </p:txBody>
      </p:sp>
      <p:sp>
        <p:nvSpPr>
          <p:cNvPr id="23" name="TextBox 22"/>
          <p:cNvSpPr txBox="1"/>
          <p:nvPr/>
        </p:nvSpPr>
        <p:spPr>
          <a:xfrm>
            <a:off x="7863840" y="3447288"/>
            <a:ext cx="3383280" cy="480131"/>
          </a:xfrm>
          <a:prstGeom prst="rect">
            <a:avLst/>
          </a:prstGeom>
          <a:noFill/>
        </p:spPr>
        <p:txBody>
          <a:bodyPr wrap="square" lIns="54864" tIns="54864" rIns="54864" bIns="54864" anchor="t">
            <a:spAutoFit/>
          </a:bodyPr>
          <a:lstStyle/>
          <a:p>
            <a:pPr>
              <a:spcAft>
                <a:spcPts val="700"/>
              </a:spcAft>
              <a:defRPr sz="1200" b="0">
                <a:solidFill>
                  <a:srgbClr val="5E6F7F"/>
                </a:solidFill>
                <a:latin typeface="Aptos"/>
              </a:defRPr>
            </a:pPr>
            <a:r>
              <a:rPr lang="en-IN" sz="1200" dirty="0">
                <a:solidFill>
                  <a:srgbClr val="5E6F7F"/>
                </a:solidFill>
                <a:latin typeface="Aptos"/>
              </a:rPr>
              <a:t>14,838 salary records (2020–2024) and 944 job postings (2025)</a:t>
            </a:r>
            <a:endParaRPr dirty="0"/>
          </a:p>
        </p:txBody>
      </p:sp>
      <p:sp>
        <p:nvSpPr>
          <p:cNvPr id="24" name="TextBox 23"/>
          <p:cNvSpPr txBox="1"/>
          <p:nvPr/>
        </p:nvSpPr>
        <p:spPr>
          <a:xfrm>
            <a:off x="731520" y="4846320"/>
            <a:ext cx="10515600" cy="1218795"/>
          </a:xfrm>
          <a:prstGeom prst="rect">
            <a:avLst/>
          </a:prstGeom>
          <a:noFill/>
        </p:spPr>
        <p:txBody>
          <a:bodyPr wrap="square" lIns="54864" tIns="54864" rIns="54864" bIns="54864" anchor="t">
            <a:spAutoFit/>
          </a:bodyPr>
          <a:lstStyle/>
          <a:p>
            <a:pPr marL="285750" lvl="0" indent="-285750">
              <a:buFont typeface="Arial" panose="020B0604020202020204" pitchFamily="34" charset="0"/>
              <a:buChar char="•"/>
            </a:pPr>
            <a:r>
              <a:rPr lang="en-IN" dirty="0"/>
              <a:t>Missing values in job postings were retained and handled according to the analysis requirements.</a:t>
            </a:r>
          </a:p>
          <a:p>
            <a:pPr marL="285750" lvl="0" indent="-285750">
              <a:buFont typeface="Arial" panose="020B0604020202020204" pitchFamily="34" charset="0"/>
              <a:buChar char="•"/>
            </a:pPr>
            <a:r>
              <a:rPr lang="en-IN" dirty="0"/>
              <a:t>Exact duplicate salary records were identified and removed from the analytical copy.</a:t>
            </a:r>
          </a:p>
          <a:p>
            <a:pPr marL="285750" lvl="0" indent="-285750">
              <a:buFont typeface="Arial" panose="020B0604020202020204" pitchFamily="34" charset="0"/>
              <a:buChar char="•"/>
            </a:pPr>
            <a:r>
              <a:rPr lang="en-IN" dirty="0"/>
              <a:t>Salary and job-posting datasets were </a:t>
            </a:r>
            <a:r>
              <a:rPr lang="en-IN" dirty="0" err="1"/>
              <a:t>analyzed</a:t>
            </a:r>
            <a:r>
              <a:rPr lang="en-IN" dirty="0"/>
              <a:t> separately because their time periods, structures, and salary formats differ.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881360" cy="502920"/>
          </a:xfrm>
          <a:prstGeom prst="rect">
            <a:avLst/>
          </a:prstGeom>
          <a:noFill/>
        </p:spPr>
        <p:txBody>
          <a:bodyPr wrap="square" lIns="54864" tIns="54864" rIns="54864" bIns="54864" anchor="t">
            <a:spAutoFit/>
          </a:bodyPr>
          <a:lstStyle/>
          <a:p>
            <a:pPr>
              <a:spcAft>
                <a:spcPts val="700"/>
              </a:spcAft>
              <a:defRPr sz="2800" b="1">
                <a:solidFill>
                  <a:srgbClr val="142B44"/>
                </a:solidFill>
                <a:latin typeface="Aptos"/>
              </a:defRPr>
            </a:pPr>
            <a:r>
              <a:t>Tools and visualization approach</a:t>
            </a:r>
          </a:p>
        </p:txBody>
      </p:sp>
      <p:sp>
        <p:nvSpPr>
          <p:cNvPr id="4" name="TextBox 3"/>
          <p:cNvSpPr txBox="1"/>
          <p:nvPr/>
        </p:nvSpPr>
        <p:spPr>
          <a:xfrm>
            <a:off x="530352" y="859536"/>
            <a:ext cx="10972800" cy="347472"/>
          </a:xfrm>
          <a:prstGeom prst="rect">
            <a:avLst/>
          </a:prstGeom>
          <a:noFill/>
        </p:spPr>
        <p:txBody>
          <a:bodyPr wrap="square" lIns="54864" tIns="54864" rIns="54864" bIns="54864" anchor="t">
            <a:spAutoFit/>
          </a:bodyPr>
          <a:lstStyle/>
          <a:p>
            <a:pPr>
              <a:spcAft>
                <a:spcPts val="700"/>
              </a:spcAft>
              <a:defRPr sz="1100" b="0">
                <a:solidFill>
                  <a:srgbClr val="5E6F7F"/>
                </a:solidFill>
                <a:latin typeface="Aptos"/>
              </a:defRPr>
            </a:pPr>
            <a:r>
              <a:t>Three visualization tools, with complementary roles</a:t>
            </a:r>
          </a:p>
        </p:txBody>
      </p:sp>
      <p:sp>
        <p:nvSpPr>
          <p:cNvPr id="5" name="Rectangle 4"/>
          <p:cNvSpPr/>
          <p:nvPr/>
        </p:nvSpPr>
        <p:spPr>
          <a:xfrm>
            <a:off x="502920" y="6510528"/>
            <a:ext cx="11155680"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37960"/>
            <a:ext cx="457200" cy="201168"/>
          </a:xfrm>
          <a:prstGeom prst="rect">
            <a:avLst/>
          </a:prstGeom>
          <a:noFill/>
        </p:spPr>
        <p:txBody>
          <a:bodyPr wrap="square" lIns="54864" tIns="54864" rIns="54864" bIns="54864" anchor="t">
            <a:spAutoFit/>
          </a:bodyPr>
          <a:lstStyle/>
          <a:p>
            <a:pPr algn="r">
              <a:spcAft>
                <a:spcPts val="700"/>
              </a:spcAft>
              <a:defRPr sz="900" b="0">
                <a:solidFill>
                  <a:srgbClr val="5E6F7F"/>
                </a:solidFill>
                <a:latin typeface="Aptos"/>
              </a:defRPr>
            </a:pPr>
            <a:r>
              <a:t>5</a:t>
            </a:r>
          </a:p>
        </p:txBody>
      </p:sp>
      <p:sp>
        <p:nvSpPr>
          <p:cNvPr id="8" name="Rounded Rectangle 7"/>
          <p:cNvSpPr/>
          <p:nvPr/>
        </p:nvSpPr>
        <p:spPr>
          <a:xfrm>
            <a:off x="640080" y="1417320"/>
            <a:ext cx="3520440" cy="274320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417320"/>
            <a:ext cx="73152" cy="2743200"/>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7" y="1581912"/>
            <a:ext cx="3154680" cy="664797"/>
          </a:xfrm>
          <a:prstGeom prst="rect">
            <a:avLst/>
          </a:prstGeom>
          <a:noFill/>
        </p:spPr>
        <p:txBody>
          <a:bodyPr wrap="square" lIns="54864" tIns="54864" rIns="54864" bIns="54864" anchor="t">
            <a:spAutoFit/>
          </a:bodyPr>
          <a:lstStyle/>
          <a:p>
            <a:r>
              <a:rPr lang="en-IN" b="1" dirty="0"/>
              <a:t>Python — Pandas, Matplotlib and Seaborn</a:t>
            </a:r>
          </a:p>
        </p:txBody>
      </p:sp>
      <p:sp>
        <p:nvSpPr>
          <p:cNvPr id="11" name="TextBox 10"/>
          <p:cNvSpPr txBox="1"/>
          <p:nvPr/>
        </p:nvSpPr>
        <p:spPr>
          <a:xfrm>
            <a:off x="832104" y="2269720"/>
            <a:ext cx="3136392" cy="1495794"/>
          </a:xfrm>
          <a:prstGeom prst="rect">
            <a:avLst/>
          </a:prstGeom>
          <a:noFill/>
        </p:spPr>
        <p:txBody>
          <a:bodyPr wrap="square" lIns="54864" tIns="54864" rIns="54864" bIns="54864" anchor="t">
            <a:spAutoFit/>
          </a:bodyPr>
          <a:lstStyle/>
          <a:p>
            <a:r>
              <a:rPr lang="en-IN" dirty="0"/>
              <a:t>Used for data cleaning, descriptive statistics, salary distributions, boxplots, rankings, correlation analysis, and data-quality visualizations.</a:t>
            </a:r>
          </a:p>
        </p:txBody>
      </p:sp>
      <p:sp>
        <p:nvSpPr>
          <p:cNvPr id="12" name="Rounded Rectangle 11"/>
          <p:cNvSpPr/>
          <p:nvPr/>
        </p:nvSpPr>
        <p:spPr>
          <a:xfrm>
            <a:off x="4343400" y="1417320"/>
            <a:ext cx="3520440" cy="274320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417320"/>
            <a:ext cx="73152" cy="2743200"/>
          </a:xfrm>
          <a:prstGeom prst="rect">
            <a:avLst/>
          </a:prstGeom>
          <a:solidFill>
            <a:srgbClr val="EEAD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44568" y="1581912"/>
            <a:ext cx="3154680" cy="32004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t>Plotly</a:t>
            </a:r>
          </a:p>
        </p:txBody>
      </p:sp>
      <p:sp>
        <p:nvSpPr>
          <p:cNvPr id="15" name="TextBox 14"/>
          <p:cNvSpPr txBox="1"/>
          <p:nvPr/>
        </p:nvSpPr>
        <p:spPr>
          <a:xfrm>
            <a:off x="4544568" y="1993392"/>
            <a:ext cx="3136392" cy="1495794"/>
          </a:xfrm>
          <a:prstGeom prst="rect">
            <a:avLst/>
          </a:prstGeom>
          <a:noFill/>
        </p:spPr>
        <p:txBody>
          <a:bodyPr wrap="square" lIns="54864" tIns="54864" rIns="54864" bIns="54864" anchor="t">
            <a:spAutoFit/>
          </a:bodyPr>
          <a:lstStyle/>
          <a:p>
            <a:r>
              <a:rPr lang="en-IN" dirty="0"/>
              <a:t>Used to create interactive charts with hover details, allowing users to explore salary patterns across years and experience levels.</a:t>
            </a:r>
          </a:p>
        </p:txBody>
      </p:sp>
      <p:sp>
        <p:nvSpPr>
          <p:cNvPr id="16" name="Rounded Rectangle 15"/>
          <p:cNvSpPr/>
          <p:nvPr/>
        </p:nvSpPr>
        <p:spPr>
          <a:xfrm>
            <a:off x="8046720" y="1417320"/>
            <a:ext cx="3520440" cy="274320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46720" y="1417320"/>
            <a:ext cx="73152" cy="2743200"/>
          </a:xfrm>
          <a:prstGeom prst="rect">
            <a:avLst/>
          </a:prstGeom>
          <a:solidFill>
            <a:srgbClr val="3285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47888" y="1581912"/>
            <a:ext cx="3154680" cy="32004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t>Tableau Public</a:t>
            </a:r>
          </a:p>
        </p:txBody>
      </p:sp>
      <p:sp>
        <p:nvSpPr>
          <p:cNvPr id="19" name="TextBox 18"/>
          <p:cNvSpPr txBox="1"/>
          <p:nvPr/>
        </p:nvSpPr>
        <p:spPr>
          <a:xfrm>
            <a:off x="8247888" y="1993392"/>
            <a:ext cx="3136392" cy="2049792"/>
          </a:xfrm>
          <a:prstGeom prst="rect">
            <a:avLst/>
          </a:prstGeom>
          <a:noFill/>
        </p:spPr>
        <p:txBody>
          <a:bodyPr wrap="square" lIns="54864" tIns="54864" rIns="54864" bIns="54864" anchor="t">
            <a:spAutoFit/>
          </a:bodyPr>
          <a:lstStyle/>
          <a:p>
            <a:r>
              <a:rPr lang="en-IN" dirty="0"/>
              <a:t>Used to build an interactive dashboard from the exported datasets, with filters and complementary views of job titles, seniority, industries, locations, company characteristics, and skills.</a:t>
            </a:r>
          </a:p>
        </p:txBody>
      </p:sp>
      <p:sp>
        <p:nvSpPr>
          <p:cNvPr id="20" name="TextBox 19"/>
          <p:cNvSpPr txBox="1"/>
          <p:nvPr/>
        </p:nvSpPr>
        <p:spPr>
          <a:xfrm>
            <a:off x="777240" y="4754880"/>
            <a:ext cx="10424160" cy="418576"/>
          </a:xfrm>
          <a:prstGeom prst="rect">
            <a:avLst/>
          </a:prstGeom>
          <a:noFill/>
        </p:spPr>
        <p:txBody>
          <a:bodyPr wrap="square" lIns="54864" tIns="54864" rIns="54864" bIns="54864" anchor="t">
            <a:spAutoFit/>
          </a:bodyPr>
          <a:lstStyle/>
          <a:p>
            <a:pPr algn="ctr">
              <a:spcAft>
                <a:spcPts val="700"/>
              </a:spcAft>
              <a:defRPr sz="2000" b="1">
                <a:solidFill>
                  <a:srgbClr val="142B44"/>
                </a:solidFill>
                <a:latin typeface="Aptos"/>
              </a:defRPr>
            </a:pPr>
            <a:r>
              <a:rPr lang="en-IN" dirty="0"/>
              <a:t>Workflow</a:t>
            </a:r>
            <a:r>
              <a:rPr dirty="0"/>
              <a:t>: inspect → clean → </a:t>
            </a:r>
            <a:r>
              <a:rPr lang="en-IN" dirty="0" err="1"/>
              <a:t>Analyze</a:t>
            </a:r>
            <a:r>
              <a:rPr lang="en-IN" dirty="0"/>
              <a:t> → </a:t>
            </a:r>
            <a:r>
              <a:rPr dirty="0"/>
              <a:t>visualize </a:t>
            </a:r>
            <a:r>
              <a:rPr lang="en-IN" dirty="0"/>
              <a:t>→ </a:t>
            </a:r>
            <a:r>
              <a:rPr dirty="0"/>
              <a:t>interpret → communicate limitations.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881360" cy="502920"/>
          </a:xfrm>
          <a:prstGeom prst="rect">
            <a:avLst/>
          </a:prstGeom>
          <a:noFill/>
        </p:spPr>
        <p:txBody>
          <a:bodyPr wrap="square" lIns="54864" tIns="54864" rIns="54864" bIns="54864" anchor="t">
            <a:spAutoFit/>
          </a:bodyPr>
          <a:lstStyle/>
          <a:p>
            <a:pPr>
              <a:spcAft>
                <a:spcPts val="700"/>
              </a:spcAft>
              <a:defRPr sz="2800" b="1">
                <a:solidFill>
                  <a:srgbClr val="142B44"/>
                </a:solidFill>
                <a:latin typeface="Aptos"/>
              </a:defRPr>
            </a:pPr>
            <a:r>
              <a:t>Exploratory analysis I</a:t>
            </a:r>
          </a:p>
        </p:txBody>
      </p:sp>
      <p:sp>
        <p:nvSpPr>
          <p:cNvPr id="4" name="TextBox 3"/>
          <p:cNvSpPr txBox="1"/>
          <p:nvPr/>
        </p:nvSpPr>
        <p:spPr>
          <a:xfrm>
            <a:off x="530352" y="859536"/>
            <a:ext cx="10972800" cy="347472"/>
          </a:xfrm>
          <a:prstGeom prst="rect">
            <a:avLst/>
          </a:prstGeom>
          <a:noFill/>
        </p:spPr>
        <p:txBody>
          <a:bodyPr wrap="square" lIns="54864" tIns="54864" rIns="54864" bIns="54864" anchor="t">
            <a:spAutoFit/>
          </a:bodyPr>
          <a:lstStyle/>
          <a:p>
            <a:pPr>
              <a:spcAft>
                <a:spcPts val="700"/>
              </a:spcAft>
              <a:defRPr sz="1100" b="0">
                <a:solidFill>
                  <a:srgbClr val="5E6F7F"/>
                </a:solidFill>
                <a:latin typeface="Aptos"/>
              </a:defRPr>
            </a:pPr>
            <a:r>
              <a:t>Distribution and area-level comparison</a:t>
            </a:r>
          </a:p>
        </p:txBody>
      </p:sp>
      <p:sp>
        <p:nvSpPr>
          <p:cNvPr id="5" name="Rectangle 4"/>
          <p:cNvSpPr/>
          <p:nvPr/>
        </p:nvSpPr>
        <p:spPr>
          <a:xfrm>
            <a:off x="502920" y="6510528"/>
            <a:ext cx="11155680"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37960"/>
            <a:ext cx="457200" cy="249299"/>
          </a:xfrm>
          <a:prstGeom prst="rect">
            <a:avLst/>
          </a:prstGeom>
          <a:noFill/>
        </p:spPr>
        <p:txBody>
          <a:bodyPr wrap="square" lIns="54864" tIns="54864" rIns="54864" bIns="54864" anchor="t">
            <a:spAutoFit/>
          </a:bodyPr>
          <a:lstStyle/>
          <a:p>
            <a:pPr algn="r">
              <a:spcAft>
                <a:spcPts val="700"/>
              </a:spcAft>
              <a:defRPr sz="900" b="0">
                <a:solidFill>
                  <a:srgbClr val="5E6F7F"/>
                </a:solidFill>
                <a:latin typeface="Aptos"/>
              </a:defRPr>
            </a:pPr>
            <a:r>
              <a:rPr lang="en-IN" dirty="0"/>
              <a:t>7</a:t>
            </a:r>
          </a:p>
        </p:txBody>
      </p:sp>
      <p:sp>
        <p:nvSpPr>
          <p:cNvPr id="10" name="Rounded Rectangle 9"/>
          <p:cNvSpPr/>
          <p:nvPr/>
        </p:nvSpPr>
        <p:spPr>
          <a:xfrm>
            <a:off x="548640" y="4635296"/>
            <a:ext cx="5166360" cy="96012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4635296"/>
            <a:ext cx="73152" cy="960120"/>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4667894"/>
            <a:ext cx="4800600" cy="357021"/>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rPr lang="en-IN" dirty="0"/>
              <a:t>Salary </a:t>
            </a:r>
            <a:r>
              <a:rPr dirty="0"/>
              <a:t>Distribution</a:t>
            </a:r>
          </a:p>
        </p:txBody>
      </p:sp>
      <p:sp>
        <p:nvSpPr>
          <p:cNvPr id="13" name="TextBox 12"/>
          <p:cNvSpPr txBox="1"/>
          <p:nvPr/>
        </p:nvSpPr>
        <p:spPr>
          <a:xfrm>
            <a:off x="716280" y="4885253"/>
            <a:ext cx="4782312" cy="757130"/>
          </a:xfrm>
          <a:prstGeom prst="rect">
            <a:avLst/>
          </a:prstGeom>
          <a:noFill/>
        </p:spPr>
        <p:txBody>
          <a:bodyPr wrap="square" lIns="54864" tIns="54864" rIns="54864" bIns="54864" anchor="t">
            <a:spAutoFit/>
          </a:bodyPr>
          <a:lstStyle/>
          <a:p>
            <a:r>
              <a:rPr lang="en-IN" sz="1400" dirty="0"/>
              <a:t>The salary histogram shows how salary records are distributed in USD, revealing the concentration of observations, spread, and potential extreme values.</a:t>
            </a:r>
          </a:p>
        </p:txBody>
      </p:sp>
      <p:sp>
        <p:nvSpPr>
          <p:cNvPr id="14" name="Rounded Rectangle 13"/>
          <p:cNvSpPr/>
          <p:nvPr/>
        </p:nvSpPr>
        <p:spPr>
          <a:xfrm>
            <a:off x="6217920" y="4635296"/>
            <a:ext cx="5166360" cy="96012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4635296"/>
            <a:ext cx="73152" cy="960120"/>
          </a:xfrm>
          <a:prstGeom prst="rect">
            <a:avLst/>
          </a:prstGeom>
          <a:solidFill>
            <a:srgbClr val="EEAD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85560" y="4686410"/>
            <a:ext cx="4800600" cy="387798"/>
          </a:xfrm>
          <a:prstGeom prst="rect">
            <a:avLst/>
          </a:prstGeom>
          <a:noFill/>
        </p:spPr>
        <p:txBody>
          <a:bodyPr wrap="square" lIns="54864" tIns="54864" rIns="54864" bIns="54864" anchor="t">
            <a:spAutoFit/>
          </a:bodyPr>
          <a:lstStyle/>
          <a:p>
            <a:r>
              <a:rPr lang="en-IN" b="1" dirty="0"/>
              <a:t>Highest-paying job titles</a:t>
            </a:r>
          </a:p>
        </p:txBody>
      </p:sp>
      <p:sp>
        <p:nvSpPr>
          <p:cNvPr id="17" name="TextBox 16"/>
          <p:cNvSpPr txBox="1"/>
          <p:nvPr/>
        </p:nvSpPr>
        <p:spPr>
          <a:xfrm>
            <a:off x="6385560" y="4992974"/>
            <a:ext cx="4782312" cy="541687"/>
          </a:xfrm>
          <a:prstGeom prst="rect">
            <a:avLst/>
          </a:prstGeom>
          <a:noFill/>
        </p:spPr>
        <p:txBody>
          <a:bodyPr wrap="square" lIns="54864" tIns="54864" rIns="54864" bIns="54864" anchor="t">
            <a:spAutoFit/>
          </a:bodyPr>
          <a:lstStyle/>
          <a:p>
            <a:r>
              <a:rPr lang="en-IN" sz="1400" dirty="0"/>
              <a:t>A ranking of job titles by average salary in the latest available year highlights roles with high recorded average compensation.</a:t>
            </a:r>
          </a:p>
        </p:txBody>
      </p:sp>
      <p:sp>
        <p:nvSpPr>
          <p:cNvPr id="18" name="TextBox 17">
            <a:extLst>
              <a:ext uri="{FF2B5EF4-FFF2-40B4-BE49-F238E27FC236}">
                <a16:creationId xmlns:a16="http://schemas.microsoft.com/office/drawing/2014/main" id="{39041B0F-B353-DE83-9D3D-77B4FCDFA0BD}"/>
              </a:ext>
            </a:extLst>
          </p:cNvPr>
          <p:cNvSpPr txBox="1"/>
          <p:nvPr/>
        </p:nvSpPr>
        <p:spPr>
          <a:xfrm>
            <a:off x="130629" y="5665243"/>
            <a:ext cx="10004855" cy="923330"/>
          </a:xfrm>
          <a:prstGeom prst="rect">
            <a:avLst/>
          </a:prstGeom>
          <a:noFill/>
        </p:spPr>
        <p:txBody>
          <a:bodyPr wrap="none" rtlCol="0">
            <a:spAutoFit/>
          </a:bodyPr>
          <a:lstStyle/>
          <a:p>
            <a:r>
              <a:rPr lang="en-IN" b="1" dirty="0"/>
              <a:t>Key interpretation: </a:t>
            </a:r>
          </a:p>
          <a:p>
            <a:r>
              <a:rPr lang="en-IN" dirty="0"/>
              <a:t>Salary distributions may be skewed, and averages can be affected by unusually high or low observations. </a:t>
            </a:r>
          </a:p>
          <a:p>
            <a:r>
              <a:rPr lang="en-IN" dirty="0"/>
              <a:t>Rankings describe the available records and do not guarantee what an individual will earn.</a:t>
            </a:r>
          </a:p>
        </p:txBody>
      </p:sp>
      <p:pic>
        <p:nvPicPr>
          <p:cNvPr id="22" name="Picture 21">
            <a:extLst>
              <a:ext uri="{FF2B5EF4-FFF2-40B4-BE49-F238E27FC236}">
                <a16:creationId xmlns:a16="http://schemas.microsoft.com/office/drawing/2014/main" id="{17D2D6EE-AE64-2816-34B5-4B3E7A52E72B}"/>
              </a:ext>
            </a:extLst>
          </p:cNvPr>
          <p:cNvPicPr>
            <a:picLocks noChangeAspect="1"/>
          </p:cNvPicPr>
          <p:nvPr/>
        </p:nvPicPr>
        <p:blipFill>
          <a:blip r:embed="rId2"/>
          <a:stretch>
            <a:fillRect/>
          </a:stretch>
        </p:blipFill>
        <p:spPr>
          <a:xfrm>
            <a:off x="350377" y="1167333"/>
            <a:ext cx="5562886" cy="3264068"/>
          </a:xfrm>
          <a:prstGeom prst="rect">
            <a:avLst/>
          </a:prstGeom>
        </p:spPr>
      </p:pic>
      <p:pic>
        <p:nvPicPr>
          <p:cNvPr id="24" name="Picture 23">
            <a:extLst>
              <a:ext uri="{FF2B5EF4-FFF2-40B4-BE49-F238E27FC236}">
                <a16:creationId xmlns:a16="http://schemas.microsoft.com/office/drawing/2014/main" id="{66AE2B07-5AD1-F6AB-2485-4C139A3033E5}"/>
              </a:ext>
            </a:extLst>
          </p:cNvPr>
          <p:cNvPicPr>
            <a:picLocks noChangeAspect="1"/>
          </p:cNvPicPr>
          <p:nvPr/>
        </p:nvPicPr>
        <p:blipFill>
          <a:blip r:embed="rId3"/>
          <a:stretch>
            <a:fillRect/>
          </a:stretch>
        </p:blipFill>
        <p:spPr>
          <a:xfrm>
            <a:off x="6173506" y="1017517"/>
            <a:ext cx="5550185" cy="349267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881360" cy="502920"/>
          </a:xfrm>
          <a:prstGeom prst="rect">
            <a:avLst/>
          </a:prstGeom>
          <a:noFill/>
        </p:spPr>
        <p:txBody>
          <a:bodyPr wrap="square" lIns="54864" tIns="54864" rIns="54864" bIns="54864" anchor="t">
            <a:spAutoFit/>
          </a:bodyPr>
          <a:lstStyle/>
          <a:p>
            <a:pPr>
              <a:spcAft>
                <a:spcPts val="700"/>
              </a:spcAft>
              <a:defRPr sz="2800" b="1">
                <a:solidFill>
                  <a:srgbClr val="142B44"/>
                </a:solidFill>
                <a:latin typeface="Aptos"/>
              </a:defRPr>
            </a:pPr>
            <a:r>
              <a:t>Exploratory analysis II</a:t>
            </a:r>
          </a:p>
        </p:txBody>
      </p:sp>
      <p:sp>
        <p:nvSpPr>
          <p:cNvPr id="4" name="TextBox 3"/>
          <p:cNvSpPr txBox="1"/>
          <p:nvPr/>
        </p:nvSpPr>
        <p:spPr>
          <a:xfrm>
            <a:off x="502920" y="925545"/>
            <a:ext cx="10972800" cy="941796"/>
          </a:xfrm>
          <a:prstGeom prst="rect">
            <a:avLst/>
          </a:prstGeom>
          <a:noFill/>
        </p:spPr>
        <p:txBody>
          <a:bodyPr wrap="square" lIns="54864" tIns="54864" rIns="54864" bIns="54864" anchor="t">
            <a:spAutoFit/>
          </a:bodyPr>
          <a:lstStyle/>
          <a:p>
            <a:r>
              <a:rPr lang="en-IN" b="1" dirty="0"/>
              <a:t>Salary trends over time</a:t>
            </a:r>
          </a:p>
          <a:p>
            <a:r>
              <a:rPr lang="en-IN" dirty="0"/>
              <a:t>The salary dataset contains records from 2020 to 2024. Year-wise analysis compares average and median salaries across this period.</a:t>
            </a:r>
          </a:p>
        </p:txBody>
      </p:sp>
      <p:sp>
        <p:nvSpPr>
          <p:cNvPr id="5" name="Rectangle 4"/>
          <p:cNvSpPr/>
          <p:nvPr/>
        </p:nvSpPr>
        <p:spPr>
          <a:xfrm>
            <a:off x="502920" y="6510528"/>
            <a:ext cx="11155680"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72009" y="6537960"/>
            <a:ext cx="457200" cy="249299"/>
          </a:xfrm>
          <a:prstGeom prst="rect">
            <a:avLst/>
          </a:prstGeom>
          <a:noFill/>
        </p:spPr>
        <p:txBody>
          <a:bodyPr wrap="square" lIns="54864" tIns="54864" rIns="54864" bIns="54864" anchor="t">
            <a:spAutoFit/>
          </a:bodyPr>
          <a:lstStyle/>
          <a:p>
            <a:pPr algn="r">
              <a:spcAft>
                <a:spcPts val="700"/>
              </a:spcAft>
              <a:defRPr sz="900" b="0">
                <a:solidFill>
                  <a:srgbClr val="5E6F7F"/>
                </a:solidFill>
                <a:latin typeface="Aptos"/>
              </a:defRPr>
            </a:pPr>
            <a:r>
              <a:rPr lang="en-IN" dirty="0"/>
              <a:t>8</a:t>
            </a:r>
            <a:r>
              <a:rPr dirty="0"/>
              <a:t>7</a:t>
            </a:r>
          </a:p>
        </p:txBody>
      </p:sp>
      <p:sp>
        <p:nvSpPr>
          <p:cNvPr id="9" name="Rounded Rectangle 8"/>
          <p:cNvSpPr/>
          <p:nvPr/>
        </p:nvSpPr>
        <p:spPr>
          <a:xfrm>
            <a:off x="7788729" y="2180506"/>
            <a:ext cx="3611880" cy="150876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88729" y="2180506"/>
            <a:ext cx="73152" cy="1508760"/>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89897" y="2240892"/>
            <a:ext cx="3246120" cy="357021"/>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rPr lang="en-IN" dirty="0"/>
              <a:t>What to examine</a:t>
            </a:r>
            <a:endParaRPr dirty="0"/>
          </a:p>
        </p:txBody>
      </p:sp>
      <p:sp>
        <p:nvSpPr>
          <p:cNvPr id="12" name="TextBox 11"/>
          <p:cNvSpPr txBox="1"/>
          <p:nvPr/>
        </p:nvSpPr>
        <p:spPr>
          <a:xfrm>
            <a:off x="7861881" y="2501248"/>
            <a:ext cx="3227832" cy="1188018"/>
          </a:xfrm>
          <a:prstGeom prst="rect">
            <a:avLst/>
          </a:prstGeom>
          <a:noFill/>
        </p:spPr>
        <p:txBody>
          <a:bodyPr wrap="square" lIns="54864" tIns="54864" rIns="54864" bIns="54864" anchor="t">
            <a:spAutoFit/>
          </a:bodyPr>
          <a:lstStyle/>
          <a:p>
            <a:pPr marL="285750" lvl="0" indent="-285750">
              <a:buFont typeface="Arial" panose="020B0604020202020204" pitchFamily="34" charset="0"/>
              <a:buChar char="•"/>
            </a:pPr>
            <a:r>
              <a:rPr lang="en-IN" sz="1400" dirty="0"/>
              <a:t>Changes in average salary across years.</a:t>
            </a:r>
          </a:p>
          <a:p>
            <a:pPr marL="285750" lvl="0" indent="-285750">
              <a:buFont typeface="Arial" panose="020B0604020202020204" pitchFamily="34" charset="0"/>
              <a:buChar char="•"/>
            </a:pPr>
            <a:r>
              <a:rPr lang="en-IN" sz="1400" dirty="0"/>
              <a:t>Differences between average and median salary.</a:t>
            </a:r>
          </a:p>
          <a:p>
            <a:pPr marL="285750" lvl="0" indent="-285750">
              <a:buFont typeface="Arial" panose="020B0604020202020204" pitchFamily="34" charset="0"/>
              <a:buChar char="•"/>
            </a:pPr>
            <a:r>
              <a:rPr lang="en-IN" sz="1400" dirty="0"/>
              <a:t>Variation in the number of records per year.</a:t>
            </a:r>
          </a:p>
        </p:txBody>
      </p:sp>
      <p:sp>
        <p:nvSpPr>
          <p:cNvPr id="13" name="Rounded Rectangle 12"/>
          <p:cNvSpPr/>
          <p:nvPr/>
        </p:nvSpPr>
        <p:spPr>
          <a:xfrm>
            <a:off x="7788729" y="3917866"/>
            <a:ext cx="3611880" cy="150876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788729" y="3917866"/>
            <a:ext cx="73152" cy="1508760"/>
          </a:xfrm>
          <a:prstGeom prst="rect">
            <a:avLst/>
          </a:prstGeom>
          <a:solidFill>
            <a:srgbClr val="EEAD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71609" y="3876003"/>
            <a:ext cx="3246120" cy="32004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rPr dirty="0"/>
              <a:t>Interpret carefully</a:t>
            </a:r>
          </a:p>
        </p:txBody>
      </p:sp>
      <p:sp>
        <p:nvSpPr>
          <p:cNvPr id="16" name="TextBox 15"/>
          <p:cNvSpPr txBox="1"/>
          <p:nvPr/>
        </p:nvSpPr>
        <p:spPr>
          <a:xfrm>
            <a:off x="7936992" y="4071437"/>
            <a:ext cx="3538728" cy="1403461"/>
          </a:xfrm>
          <a:prstGeom prst="rect">
            <a:avLst/>
          </a:prstGeom>
          <a:noFill/>
        </p:spPr>
        <p:txBody>
          <a:bodyPr wrap="square" lIns="54864" tIns="54864" rIns="54864" bIns="54864" anchor="t">
            <a:spAutoFit/>
          </a:bodyPr>
          <a:lstStyle/>
          <a:p>
            <a:r>
              <a:rPr lang="en-IN" sz="1400" dirty="0"/>
              <a:t>The dataset contains different numbers of salary records in each year. Changes in the observed averages may reflect differences in job titles, experience levels, and record composition, rather than changes affecting every worker.</a:t>
            </a:r>
          </a:p>
        </p:txBody>
      </p:sp>
      <p:pic>
        <p:nvPicPr>
          <p:cNvPr id="19" name="Picture 18">
            <a:extLst>
              <a:ext uri="{FF2B5EF4-FFF2-40B4-BE49-F238E27FC236}">
                <a16:creationId xmlns:a16="http://schemas.microsoft.com/office/drawing/2014/main" id="{40B822F0-4AD0-1015-92A6-8F879F5EDE55}"/>
              </a:ext>
            </a:extLst>
          </p:cNvPr>
          <p:cNvPicPr>
            <a:picLocks noChangeAspect="1"/>
          </p:cNvPicPr>
          <p:nvPr/>
        </p:nvPicPr>
        <p:blipFill>
          <a:blip r:embed="rId2"/>
          <a:stretch>
            <a:fillRect/>
          </a:stretch>
        </p:blipFill>
        <p:spPr>
          <a:xfrm>
            <a:off x="502920" y="2063648"/>
            <a:ext cx="5543835" cy="297830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881360" cy="502920"/>
          </a:xfrm>
          <a:prstGeom prst="rect">
            <a:avLst/>
          </a:prstGeom>
          <a:noFill/>
        </p:spPr>
        <p:txBody>
          <a:bodyPr wrap="square" lIns="54864" tIns="54864" rIns="54864" bIns="54864" anchor="t">
            <a:spAutoFit/>
          </a:bodyPr>
          <a:lstStyle/>
          <a:p>
            <a:pPr>
              <a:spcAft>
                <a:spcPts val="700"/>
              </a:spcAft>
              <a:defRPr sz="2800" b="1">
                <a:solidFill>
                  <a:srgbClr val="142B44"/>
                </a:solidFill>
                <a:latin typeface="Aptos"/>
              </a:defRPr>
            </a:pPr>
            <a:r>
              <a:t>Exploratory analysis III</a:t>
            </a:r>
          </a:p>
        </p:txBody>
      </p:sp>
      <p:sp>
        <p:nvSpPr>
          <p:cNvPr id="4" name="TextBox 3"/>
          <p:cNvSpPr txBox="1"/>
          <p:nvPr/>
        </p:nvSpPr>
        <p:spPr>
          <a:xfrm>
            <a:off x="530352" y="859536"/>
            <a:ext cx="10972800" cy="1218795"/>
          </a:xfrm>
          <a:prstGeom prst="rect">
            <a:avLst/>
          </a:prstGeom>
          <a:noFill/>
        </p:spPr>
        <p:txBody>
          <a:bodyPr wrap="square" lIns="54864" tIns="54864" rIns="54864" bIns="54864" anchor="t">
            <a:spAutoFit/>
          </a:bodyPr>
          <a:lstStyle/>
          <a:p>
            <a:r>
              <a:rPr lang="en-IN" b="1" dirty="0"/>
              <a:t>Experience-level comparison:</a:t>
            </a:r>
            <a:br>
              <a:rPr lang="en-IN" b="1" dirty="0"/>
            </a:br>
            <a:r>
              <a:rPr lang="en-IN" dirty="0"/>
              <a:t>Salary records are grouped into Entry-level (EN), Mid-level (MI), Senior-level (SE), and Executive-level (EX) categories to compare salary distributions.</a:t>
            </a:r>
          </a:p>
          <a:p>
            <a:endParaRPr lang="en-IN" b="1" dirty="0"/>
          </a:p>
        </p:txBody>
      </p:sp>
      <p:sp>
        <p:nvSpPr>
          <p:cNvPr id="7" name="TextBox 6"/>
          <p:cNvSpPr txBox="1"/>
          <p:nvPr/>
        </p:nvSpPr>
        <p:spPr>
          <a:xfrm>
            <a:off x="11155680" y="6537960"/>
            <a:ext cx="457200" cy="201168"/>
          </a:xfrm>
          <a:prstGeom prst="rect">
            <a:avLst/>
          </a:prstGeom>
          <a:noFill/>
        </p:spPr>
        <p:txBody>
          <a:bodyPr wrap="square" lIns="54864" tIns="54864" rIns="54864" bIns="54864" anchor="t">
            <a:spAutoFit/>
          </a:bodyPr>
          <a:lstStyle/>
          <a:p>
            <a:pPr algn="r">
              <a:spcAft>
                <a:spcPts val="700"/>
              </a:spcAft>
              <a:defRPr sz="900" b="0">
                <a:solidFill>
                  <a:srgbClr val="5E6F7F"/>
                </a:solidFill>
                <a:latin typeface="Aptos"/>
              </a:defRPr>
            </a:pPr>
            <a:r>
              <a:t>8</a:t>
            </a:r>
          </a:p>
        </p:txBody>
      </p:sp>
      <p:sp>
        <p:nvSpPr>
          <p:cNvPr id="10" name="Rounded Rectangle 9"/>
          <p:cNvSpPr/>
          <p:nvPr/>
        </p:nvSpPr>
        <p:spPr>
          <a:xfrm>
            <a:off x="640080" y="4891359"/>
            <a:ext cx="5166360" cy="105156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4891359"/>
            <a:ext cx="73152" cy="1051560"/>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4977952"/>
            <a:ext cx="4800600" cy="387798"/>
          </a:xfrm>
          <a:prstGeom prst="rect">
            <a:avLst/>
          </a:prstGeom>
          <a:noFill/>
        </p:spPr>
        <p:txBody>
          <a:bodyPr wrap="square" lIns="54864" tIns="54864" rIns="54864" bIns="54864" anchor="t">
            <a:spAutoFit/>
          </a:bodyPr>
          <a:lstStyle/>
          <a:p>
            <a:r>
              <a:rPr lang="en-IN" b="1" dirty="0"/>
              <a:t>Salary distribution by year</a:t>
            </a:r>
          </a:p>
        </p:txBody>
      </p:sp>
      <p:sp>
        <p:nvSpPr>
          <p:cNvPr id="13" name="TextBox 12"/>
          <p:cNvSpPr txBox="1"/>
          <p:nvPr/>
        </p:nvSpPr>
        <p:spPr>
          <a:xfrm>
            <a:off x="841248" y="5365750"/>
            <a:ext cx="4782312" cy="541687"/>
          </a:xfrm>
          <a:prstGeom prst="rect">
            <a:avLst/>
          </a:prstGeom>
          <a:noFill/>
        </p:spPr>
        <p:txBody>
          <a:bodyPr wrap="square" lIns="54864" tIns="54864" rIns="54864" bIns="54864" anchor="t">
            <a:spAutoFit/>
          </a:bodyPr>
          <a:lstStyle/>
          <a:p>
            <a:r>
              <a:rPr lang="en-IN" sz="1400" dirty="0"/>
              <a:t>Boxplots summarize the median, spread, and potential outliers in salary records across 2020–2024.</a:t>
            </a:r>
          </a:p>
        </p:txBody>
      </p:sp>
      <p:sp>
        <p:nvSpPr>
          <p:cNvPr id="14" name="Rounded Rectangle 13"/>
          <p:cNvSpPr/>
          <p:nvPr/>
        </p:nvSpPr>
        <p:spPr>
          <a:xfrm>
            <a:off x="6309360" y="4891359"/>
            <a:ext cx="5166360" cy="105156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309360" y="4891359"/>
            <a:ext cx="73152" cy="1051560"/>
          </a:xfrm>
          <a:prstGeom prst="rect">
            <a:avLst/>
          </a:prstGeom>
          <a:solidFill>
            <a:srgbClr val="EEAD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4962560"/>
            <a:ext cx="4800600" cy="387798"/>
          </a:xfrm>
          <a:prstGeom prst="rect">
            <a:avLst/>
          </a:prstGeom>
          <a:noFill/>
        </p:spPr>
        <p:txBody>
          <a:bodyPr wrap="square" lIns="54864" tIns="54864" rIns="54864" bIns="54864" anchor="t">
            <a:spAutoFit/>
          </a:bodyPr>
          <a:lstStyle/>
          <a:p>
            <a:r>
              <a:rPr lang="en-IN" b="1" dirty="0"/>
              <a:t>Data availability</a:t>
            </a:r>
          </a:p>
        </p:txBody>
      </p:sp>
      <p:sp>
        <p:nvSpPr>
          <p:cNvPr id="17" name="TextBox 16"/>
          <p:cNvSpPr txBox="1"/>
          <p:nvPr/>
        </p:nvSpPr>
        <p:spPr>
          <a:xfrm>
            <a:off x="6510528" y="5237554"/>
            <a:ext cx="4782312" cy="603242"/>
          </a:xfrm>
          <a:prstGeom prst="rect">
            <a:avLst/>
          </a:prstGeom>
          <a:noFill/>
        </p:spPr>
        <p:txBody>
          <a:bodyPr wrap="square" lIns="54864" tIns="54864" rIns="54864" bIns="54864" anchor="t">
            <a:spAutoFit/>
          </a:bodyPr>
          <a:lstStyle/>
          <a:p>
            <a:r>
              <a:rPr lang="en-IN" sz="1600" dirty="0"/>
              <a:t>A heatmap compares the percentage of available values in each column of the salary and job-postings datasets.</a:t>
            </a:r>
          </a:p>
        </p:txBody>
      </p:sp>
      <p:sp>
        <p:nvSpPr>
          <p:cNvPr id="18" name="TextBox 17">
            <a:extLst>
              <a:ext uri="{FF2B5EF4-FFF2-40B4-BE49-F238E27FC236}">
                <a16:creationId xmlns:a16="http://schemas.microsoft.com/office/drawing/2014/main" id="{F90C68DF-7D1F-8664-47CF-3EFC6F811A50}"/>
              </a:ext>
            </a:extLst>
          </p:cNvPr>
          <p:cNvSpPr txBox="1"/>
          <p:nvPr/>
        </p:nvSpPr>
        <p:spPr>
          <a:xfrm>
            <a:off x="0" y="5937795"/>
            <a:ext cx="11159402" cy="1200329"/>
          </a:xfrm>
          <a:prstGeom prst="rect">
            <a:avLst/>
          </a:prstGeom>
          <a:noFill/>
        </p:spPr>
        <p:txBody>
          <a:bodyPr wrap="none" rtlCol="0">
            <a:spAutoFit/>
          </a:bodyPr>
          <a:lstStyle/>
          <a:p>
            <a:r>
              <a:rPr lang="en-IN" b="1" dirty="0"/>
              <a:t>Key interpretation:</a:t>
            </a:r>
          </a:p>
          <a:p>
            <a:r>
              <a:rPr lang="en-IN" dirty="0"/>
              <a:t>Missing data and outliers require careful interpretation. A missing value does not represent zero, and an outlier is not</a:t>
            </a:r>
          </a:p>
          <a:p>
            <a:r>
              <a:rPr lang="en-IN" dirty="0"/>
              <a:t> automatically an error.</a:t>
            </a:r>
          </a:p>
          <a:p>
            <a:endParaRPr lang="en-IN" dirty="0"/>
          </a:p>
        </p:txBody>
      </p:sp>
      <p:pic>
        <p:nvPicPr>
          <p:cNvPr id="20" name="Picture 19">
            <a:extLst>
              <a:ext uri="{FF2B5EF4-FFF2-40B4-BE49-F238E27FC236}">
                <a16:creationId xmlns:a16="http://schemas.microsoft.com/office/drawing/2014/main" id="{0912C366-40A5-CBEE-D8CA-A996E4F932DB}"/>
              </a:ext>
            </a:extLst>
          </p:cNvPr>
          <p:cNvPicPr>
            <a:picLocks noChangeAspect="1"/>
          </p:cNvPicPr>
          <p:nvPr/>
        </p:nvPicPr>
        <p:blipFill>
          <a:blip r:embed="rId2"/>
          <a:stretch>
            <a:fillRect/>
          </a:stretch>
        </p:blipFill>
        <p:spPr>
          <a:xfrm>
            <a:off x="502920" y="1785684"/>
            <a:ext cx="5339985" cy="3085461"/>
          </a:xfrm>
          <a:prstGeom prst="rect">
            <a:avLst/>
          </a:prstGeom>
        </p:spPr>
      </p:pic>
      <p:pic>
        <p:nvPicPr>
          <p:cNvPr id="22" name="Picture 21">
            <a:extLst>
              <a:ext uri="{FF2B5EF4-FFF2-40B4-BE49-F238E27FC236}">
                <a16:creationId xmlns:a16="http://schemas.microsoft.com/office/drawing/2014/main" id="{F0428A76-B5D0-08B2-D48C-30752A965D9E}"/>
              </a:ext>
            </a:extLst>
          </p:cNvPr>
          <p:cNvPicPr>
            <a:picLocks noChangeAspect="1"/>
          </p:cNvPicPr>
          <p:nvPr/>
        </p:nvPicPr>
        <p:blipFill>
          <a:blip r:embed="rId3"/>
          <a:stretch>
            <a:fillRect/>
          </a:stretch>
        </p:blipFill>
        <p:spPr>
          <a:xfrm>
            <a:off x="6157946" y="1601372"/>
            <a:ext cx="5531134" cy="31878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881360" cy="502920"/>
          </a:xfrm>
          <a:prstGeom prst="rect">
            <a:avLst/>
          </a:prstGeom>
          <a:noFill/>
        </p:spPr>
        <p:txBody>
          <a:bodyPr wrap="square" lIns="54864" tIns="54864" rIns="54864" bIns="54864" anchor="t">
            <a:spAutoFit/>
          </a:bodyPr>
          <a:lstStyle/>
          <a:p>
            <a:pPr>
              <a:spcAft>
                <a:spcPts val="700"/>
              </a:spcAft>
              <a:defRPr sz="2800" b="1">
                <a:solidFill>
                  <a:srgbClr val="142B44"/>
                </a:solidFill>
                <a:latin typeface="Aptos"/>
              </a:defRPr>
            </a:pPr>
            <a:r>
              <a:t>Exploratory analysis IV</a:t>
            </a:r>
          </a:p>
        </p:txBody>
      </p:sp>
      <p:sp>
        <p:nvSpPr>
          <p:cNvPr id="4" name="TextBox 3"/>
          <p:cNvSpPr txBox="1"/>
          <p:nvPr/>
        </p:nvSpPr>
        <p:spPr>
          <a:xfrm>
            <a:off x="530352" y="859536"/>
            <a:ext cx="10972800" cy="347472"/>
          </a:xfrm>
          <a:prstGeom prst="rect">
            <a:avLst/>
          </a:prstGeom>
          <a:noFill/>
        </p:spPr>
        <p:txBody>
          <a:bodyPr wrap="square" lIns="54864" tIns="54864" rIns="54864" bIns="54864" anchor="t">
            <a:spAutoFit/>
          </a:bodyPr>
          <a:lstStyle/>
          <a:p>
            <a:pPr>
              <a:spcAft>
                <a:spcPts val="700"/>
              </a:spcAft>
              <a:defRPr sz="1100" b="0">
                <a:solidFill>
                  <a:srgbClr val="5E6F7F"/>
                </a:solidFill>
                <a:latin typeface="Aptos"/>
              </a:defRPr>
            </a:pPr>
            <a:r>
              <a:t>Correlation heatmap: useful, but not causal evidence</a:t>
            </a:r>
          </a:p>
        </p:txBody>
      </p:sp>
      <p:sp>
        <p:nvSpPr>
          <p:cNvPr id="5" name="Rectangle 4"/>
          <p:cNvSpPr/>
          <p:nvPr/>
        </p:nvSpPr>
        <p:spPr>
          <a:xfrm>
            <a:off x="502920" y="6510528"/>
            <a:ext cx="11155680"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37960"/>
            <a:ext cx="457200" cy="201168"/>
          </a:xfrm>
          <a:prstGeom prst="rect">
            <a:avLst/>
          </a:prstGeom>
          <a:noFill/>
        </p:spPr>
        <p:txBody>
          <a:bodyPr wrap="square" lIns="54864" tIns="54864" rIns="54864" bIns="54864" anchor="t">
            <a:spAutoFit/>
          </a:bodyPr>
          <a:lstStyle/>
          <a:p>
            <a:pPr algn="r">
              <a:spcAft>
                <a:spcPts val="700"/>
              </a:spcAft>
              <a:defRPr sz="900" b="0">
                <a:solidFill>
                  <a:srgbClr val="5E6F7F"/>
                </a:solidFill>
                <a:latin typeface="Aptos"/>
              </a:defRPr>
            </a:pPr>
            <a:r>
              <a:t>9</a:t>
            </a:r>
          </a:p>
        </p:txBody>
      </p:sp>
      <p:sp>
        <p:nvSpPr>
          <p:cNvPr id="9" name="Rounded Rectangle 8"/>
          <p:cNvSpPr/>
          <p:nvPr/>
        </p:nvSpPr>
        <p:spPr>
          <a:xfrm>
            <a:off x="6309360" y="1600200"/>
            <a:ext cx="4937760" cy="141732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309360" y="1600200"/>
            <a:ext cx="73152" cy="1417320"/>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10528" y="1764792"/>
            <a:ext cx="4572000" cy="32004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t>What it helps reveal</a:t>
            </a:r>
          </a:p>
        </p:txBody>
      </p:sp>
      <p:sp>
        <p:nvSpPr>
          <p:cNvPr id="12" name="TextBox 11"/>
          <p:cNvSpPr txBox="1"/>
          <p:nvPr/>
        </p:nvSpPr>
        <p:spPr>
          <a:xfrm>
            <a:off x="6382512" y="1967554"/>
            <a:ext cx="4553712" cy="1095685"/>
          </a:xfrm>
          <a:prstGeom prst="rect">
            <a:avLst/>
          </a:prstGeom>
          <a:noFill/>
        </p:spPr>
        <p:txBody>
          <a:bodyPr wrap="square" lIns="54864" tIns="54864" rIns="54864" bIns="54864" anchor="t">
            <a:spAutoFit/>
          </a:bodyPr>
          <a:lstStyle/>
          <a:p>
            <a:pPr marL="285750" lvl="0" indent="-285750">
              <a:buFont typeface="Arial" panose="020B0604020202020204" pitchFamily="34" charset="0"/>
              <a:buChar char="•"/>
            </a:pPr>
            <a:r>
              <a:rPr lang="en-IN" sz="1600" dirty="0"/>
              <a:t>Whether numeric variables move together.</a:t>
            </a:r>
          </a:p>
          <a:p>
            <a:pPr marL="285750" lvl="0" indent="-285750">
              <a:buFont typeface="Arial" panose="020B0604020202020204" pitchFamily="34" charset="0"/>
              <a:buChar char="•"/>
            </a:pPr>
            <a:r>
              <a:rPr lang="en-IN" sz="1600" dirty="0"/>
              <a:t>The strength and direction of pairwise linear associations.</a:t>
            </a:r>
          </a:p>
          <a:p>
            <a:pPr marL="285750" lvl="0" indent="-285750">
              <a:buFont typeface="Arial" panose="020B0604020202020204" pitchFamily="34" charset="0"/>
              <a:buChar char="•"/>
            </a:pPr>
            <a:r>
              <a:rPr lang="en-IN" sz="1600" dirty="0"/>
              <a:t>Potential relationships worth investigating further.</a:t>
            </a:r>
          </a:p>
        </p:txBody>
      </p:sp>
      <p:sp>
        <p:nvSpPr>
          <p:cNvPr id="13" name="Rounded Rectangle 12"/>
          <p:cNvSpPr/>
          <p:nvPr/>
        </p:nvSpPr>
        <p:spPr>
          <a:xfrm>
            <a:off x="6309360" y="3246120"/>
            <a:ext cx="4937760" cy="141732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309360" y="3246120"/>
            <a:ext cx="73152" cy="1417320"/>
          </a:xfrm>
          <a:prstGeom prst="rect">
            <a:avLst/>
          </a:prstGeom>
          <a:solidFill>
            <a:srgbClr val="EEAD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10528" y="3410712"/>
            <a:ext cx="4572000" cy="32004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t>What it cannot prove</a:t>
            </a:r>
          </a:p>
        </p:txBody>
      </p:sp>
      <p:sp>
        <p:nvSpPr>
          <p:cNvPr id="16" name="TextBox 15"/>
          <p:cNvSpPr txBox="1"/>
          <p:nvPr/>
        </p:nvSpPr>
        <p:spPr>
          <a:xfrm>
            <a:off x="6483096" y="3563183"/>
            <a:ext cx="4553712" cy="1095685"/>
          </a:xfrm>
          <a:prstGeom prst="rect">
            <a:avLst/>
          </a:prstGeom>
          <a:noFill/>
        </p:spPr>
        <p:txBody>
          <a:bodyPr wrap="square" lIns="54864" tIns="54864" rIns="54864" bIns="54864" anchor="t">
            <a:spAutoFit/>
          </a:bodyPr>
          <a:lstStyle/>
          <a:p>
            <a:r>
              <a:rPr lang="en-IN" sz="1600" dirty="0"/>
              <a:t>Correlation does not establish cause and effect. Salary, salary in USD, work year, and remote ratio have different meanings, and relationships can be affected by the composition of the dataset.</a:t>
            </a:r>
          </a:p>
        </p:txBody>
      </p:sp>
      <p:pic>
        <p:nvPicPr>
          <p:cNvPr id="18" name="Picture 17">
            <a:extLst>
              <a:ext uri="{FF2B5EF4-FFF2-40B4-BE49-F238E27FC236}">
                <a16:creationId xmlns:a16="http://schemas.microsoft.com/office/drawing/2014/main" id="{E34611BD-31E9-244F-8296-D3624363B358}"/>
              </a:ext>
            </a:extLst>
          </p:cNvPr>
          <p:cNvPicPr>
            <a:picLocks noChangeAspect="1"/>
          </p:cNvPicPr>
          <p:nvPr/>
        </p:nvPicPr>
        <p:blipFill>
          <a:blip r:embed="rId2"/>
          <a:stretch>
            <a:fillRect/>
          </a:stretch>
        </p:blipFill>
        <p:spPr>
          <a:xfrm>
            <a:off x="553430" y="1274185"/>
            <a:ext cx="5176974" cy="472427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881360" cy="502920"/>
          </a:xfrm>
          <a:prstGeom prst="rect">
            <a:avLst/>
          </a:prstGeom>
          <a:noFill/>
        </p:spPr>
        <p:txBody>
          <a:bodyPr wrap="square" lIns="54864" tIns="54864" rIns="54864" bIns="54864" anchor="t">
            <a:spAutoFit/>
          </a:bodyPr>
          <a:lstStyle/>
          <a:p>
            <a:pPr>
              <a:spcAft>
                <a:spcPts val="700"/>
              </a:spcAft>
              <a:defRPr sz="2800" b="1">
                <a:solidFill>
                  <a:srgbClr val="142B44"/>
                </a:solidFill>
                <a:latin typeface="Aptos"/>
              </a:defRPr>
            </a:pPr>
            <a:r>
              <a:t>Supporting analysis: import dependency vs. undernourishment</a:t>
            </a:r>
          </a:p>
        </p:txBody>
      </p:sp>
      <p:sp>
        <p:nvSpPr>
          <p:cNvPr id="5" name="Rectangle 4"/>
          <p:cNvSpPr/>
          <p:nvPr/>
        </p:nvSpPr>
        <p:spPr>
          <a:xfrm>
            <a:off x="502920" y="6510528"/>
            <a:ext cx="11155680"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37960"/>
            <a:ext cx="457200" cy="201168"/>
          </a:xfrm>
          <a:prstGeom prst="rect">
            <a:avLst/>
          </a:prstGeom>
          <a:noFill/>
        </p:spPr>
        <p:txBody>
          <a:bodyPr wrap="square" lIns="54864" tIns="54864" rIns="54864" bIns="54864" anchor="t">
            <a:spAutoFit/>
          </a:bodyPr>
          <a:lstStyle/>
          <a:p>
            <a:pPr algn="r">
              <a:spcAft>
                <a:spcPts val="700"/>
              </a:spcAft>
              <a:defRPr sz="900" b="0">
                <a:solidFill>
                  <a:srgbClr val="5E6F7F"/>
                </a:solidFill>
                <a:latin typeface="Aptos"/>
              </a:defRPr>
            </a:pPr>
            <a:r>
              <a:t>10</a:t>
            </a:r>
          </a:p>
        </p:txBody>
      </p:sp>
      <p:sp>
        <p:nvSpPr>
          <p:cNvPr id="9" name="Rounded Rectangle 8"/>
          <p:cNvSpPr/>
          <p:nvPr/>
        </p:nvSpPr>
        <p:spPr>
          <a:xfrm>
            <a:off x="685800" y="5074920"/>
            <a:ext cx="3429000" cy="91440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5074920"/>
            <a:ext cx="73152" cy="914400"/>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5239512"/>
            <a:ext cx="3063240" cy="32004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t>Matched observations</a:t>
            </a:r>
          </a:p>
        </p:txBody>
      </p:sp>
      <p:sp>
        <p:nvSpPr>
          <p:cNvPr id="12" name="TextBox 11"/>
          <p:cNvSpPr txBox="1"/>
          <p:nvPr/>
        </p:nvSpPr>
        <p:spPr>
          <a:xfrm>
            <a:off x="886968" y="5650992"/>
            <a:ext cx="3044952" cy="295466"/>
          </a:xfrm>
          <a:prstGeom prst="rect">
            <a:avLst/>
          </a:prstGeom>
          <a:noFill/>
        </p:spPr>
        <p:txBody>
          <a:bodyPr wrap="square" lIns="54864" tIns="54864" rIns="54864" bIns="54864" anchor="t">
            <a:spAutoFit/>
          </a:bodyPr>
          <a:lstStyle/>
          <a:p>
            <a:pPr>
              <a:spcAft>
                <a:spcPts val="700"/>
              </a:spcAft>
              <a:defRPr sz="1200" b="0">
                <a:solidFill>
                  <a:srgbClr val="2A3947"/>
                </a:solidFill>
                <a:latin typeface="Aptos"/>
              </a:defRPr>
            </a:pPr>
            <a:r>
              <a:rPr lang="en-IN" dirty="0"/>
              <a:t>14,838 salary records</a:t>
            </a:r>
          </a:p>
        </p:txBody>
      </p:sp>
      <p:sp>
        <p:nvSpPr>
          <p:cNvPr id="13" name="Rounded Rectangle 12"/>
          <p:cNvSpPr/>
          <p:nvPr/>
        </p:nvSpPr>
        <p:spPr>
          <a:xfrm>
            <a:off x="4389120" y="5074920"/>
            <a:ext cx="3429000" cy="91440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89120" y="5074920"/>
            <a:ext cx="73152" cy="914400"/>
          </a:xfrm>
          <a:prstGeom prst="rect">
            <a:avLst/>
          </a:prstGeom>
          <a:solidFill>
            <a:srgbClr val="EEAD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90288" y="5239512"/>
            <a:ext cx="3063240" cy="32004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t>Pearson correlation</a:t>
            </a:r>
          </a:p>
        </p:txBody>
      </p:sp>
      <p:sp>
        <p:nvSpPr>
          <p:cNvPr id="16" name="TextBox 15"/>
          <p:cNvSpPr txBox="1"/>
          <p:nvPr/>
        </p:nvSpPr>
        <p:spPr>
          <a:xfrm>
            <a:off x="4590288" y="5650992"/>
            <a:ext cx="3044952" cy="295466"/>
          </a:xfrm>
          <a:prstGeom prst="rect">
            <a:avLst/>
          </a:prstGeom>
          <a:noFill/>
        </p:spPr>
        <p:txBody>
          <a:bodyPr wrap="square" lIns="54864" tIns="54864" rIns="54864" bIns="54864" anchor="t">
            <a:spAutoFit/>
          </a:bodyPr>
          <a:lstStyle/>
          <a:p>
            <a:pPr>
              <a:spcAft>
                <a:spcPts val="700"/>
              </a:spcAft>
              <a:defRPr sz="1200" b="0">
                <a:solidFill>
                  <a:srgbClr val="2A3947"/>
                </a:solidFill>
                <a:latin typeface="Aptos"/>
              </a:defRPr>
            </a:pPr>
            <a:r>
              <a:rPr lang="en-IN" dirty="0"/>
              <a:t>Not applicable to this analysis</a:t>
            </a:r>
            <a:endParaRPr dirty="0"/>
          </a:p>
        </p:txBody>
      </p:sp>
      <p:sp>
        <p:nvSpPr>
          <p:cNvPr id="17" name="Rounded Rectangle 16"/>
          <p:cNvSpPr/>
          <p:nvPr/>
        </p:nvSpPr>
        <p:spPr>
          <a:xfrm>
            <a:off x="8092440" y="5074920"/>
            <a:ext cx="3429000" cy="91440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92440" y="5074920"/>
            <a:ext cx="73152" cy="914400"/>
          </a:xfrm>
          <a:prstGeom prst="rect">
            <a:avLst/>
          </a:prstGeom>
          <a:solidFill>
            <a:srgbClr val="3285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75320" y="5110190"/>
            <a:ext cx="3063240" cy="32004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t>Interpretation</a:t>
            </a:r>
          </a:p>
        </p:txBody>
      </p:sp>
      <p:sp>
        <p:nvSpPr>
          <p:cNvPr id="20" name="TextBox 19"/>
          <p:cNvSpPr txBox="1"/>
          <p:nvPr/>
        </p:nvSpPr>
        <p:spPr>
          <a:xfrm>
            <a:off x="8284464" y="5312960"/>
            <a:ext cx="3044952" cy="664797"/>
          </a:xfrm>
          <a:prstGeom prst="rect">
            <a:avLst/>
          </a:prstGeom>
          <a:noFill/>
        </p:spPr>
        <p:txBody>
          <a:bodyPr wrap="square" lIns="54864" tIns="54864" rIns="54864" bIns="54864" anchor="t">
            <a:spAutoFit/>
          </a:bodyPr>
          <a:lstStyle/>
          <a:p>
            <a:pPr>
              <a:spcAft>
                <a:spcPts val="700"/>
              </a:spcAft>
              <a:defRPr sz="1200" b="0">
                <a:solidFill>
                  <a:srgbClr val="2A3947"/>
                </a:solidFill>
                <a:latin typeface="Aptos"/>
              </a:defRPr>
            </a:pPr>
            <a:r>
              <a:rPr lang="en-IN" sz="1200" dirty="0">
                <a:solidFill>
                  <a:srgbClr val="2A3947"/>
                </a:solidFill>
                <a:latin typeface="Aptos"/>
              </a:rPr>
              <a:t>Salary distribution varies by experience level; senior-level roles generally show higher salaries.</a:t>
            </a:r>
            <a:endParaRPr dirty="0"/>
          </a:p>
        </p:txBody>
      </p:sp>
      <p:pic>
        <p:nvPicPr>
          <p:cNvPr id="22" name="Picture 21">
            <a:extLst>
              <a:ext uri="{FF2B5EF4-FFF2-40B4-BE49-F238E27FC236}">
                <a16:creationId xmlns:a16="http://schemas.microsoft.com/office/drawing/2014/main" id="{24F2D282-F4D9-C47F-BC0F-B7049BCCB580}"/>
              </a:ext>
            </a:extLst>
          </p:cNvPr>
          <p:cNvPicPr>
            <a:picLocks noChangeAspect="1"/>
          </p:cNvPicPr>
          <p:nvPr/>
        </p:nvPicPr>
        <p:blipFill>
          <a:blip r:embed="rId2"/>
          <a:stretch>
            <a:fillRect/>
          </a:stretch>
        </p:blipFill>
        <p:spPr>
          <a:xfrm>
            <a:off x="2890214" y="1005841"/>
            <a:ext cx="5531134" cy="329581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881360" cy="502920"/>
          </a:xfrm>
          <a:prstGeom prst="rect">
            <a:avLst/>
          </a:prstGeom>
          <a:noFill/>
        </p:spPr>
        <p:txBody>
          <a:bodyPr wrap="square" lIns="54864" tIns="54864" rIns="54864" bIns="54864" anchor="t">
            <a:spAutoFit/>
          </a:bodyPr>
          <a:lstStyle/>
          <a:p>
            <a:pPr>
              <a:spcAft>
                <a:spcPts val="700"/>
              </a:spcAft>
              <a:defRPr sz="2800" b="1">
                <a:solidFill>
                  <a:srgbClr val="142B44"/>
                </a:solidFill>
                <a:latin typeface="Aptos"/>
              </a:defRPr>
            </a:pPr>
            <a:r>
              <a:t>Interactive Tableau dashboard</a:t>
            </a:r>
          </a:p>
        </p:txBody>
      </p:sp>
      <p:sp>
        <p:nvSpPr>
          <p:cNvPr id="5" name="Rectangle 4"/>
          <p:cNvSpPr/>
          <p:nvPr/>
        </p:nvSpPr>
        <p:spPr>
          <a:xfrm>
            <a:off x="502920" y="6510528"/>
            <a:ext cx="11155680"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37960"/>
            <a:ext cx="457200" cy="201168"/>
          </a:xfrm>
          <a:prstGeom prst="rect">
            <a:avLst/>
          </a:prstGeom>
          <a:noFill/>
        </p:spPr>
        <p:txBody>
          <a:bodyPr wrap="square" lIns="54864" tIns="54864" rIns="54864" bIns="54864" anchor="t">
            <a:spAutoFit/>
          </a:bodyPr>
          <a:lstStyle/>
          <a:p>
            <a:pPr algn="r">
              <a:spcAft>
                <a:spcPts val="700"/>
              </a:spcAft>
              <a:defRPr sz="900" b="0">
                <a:solidFill>
                  <a:srgbClr val="5E6F7F"/>
                </a:solidFill>
                <a:latin typeface="Aptos"/>
              </a:defRPr>
            </a:pPr>
            <a:r>
              <a:t>11</a:t>
            </a:r>
          </a:p>
        </p:txBody>
      </p:sp>
      <p:sp>
        <p:nvSpPr>
          <p:cNvPr id="9" name="TextBox 8"/>
          <p:cNvSpPr txBox="1"/>
          <p:nvPr/>
        </p:nvSpPr>
        <p:spPr>
          <a:xfrm>
            <a:off x="731520" y="5532120"/>
            <a:ext cx="10698480" cy="849463"/>
          </a:xfrm>
          <a:prstGeom prst="rect">
            <a:avLst/>
          </a:prstGeom>
          <a:noFill/>
        </p:spPr>
        <p:txBody>
          <a:bodyPr wrap="square" lIns="54864" tIns="54864" rIns="54864" bIns="54864" anchor="t">
            <a:spAutoFit/>
          </a:bodyPr>
          <a:lstStyle/>
          <a:p>
            <a:r>
              <a:rPr lang="en-IN" sz="1600" b="1" dirty="0"/>
              <a:t>Interpretation:</a:t>
            </a:r>
            <a:r>
              <a:rPr lang="en-IN" sz="1600" dirty="0"/>
              <a:t> </a:t>
            </a:r>
            <a:r>
              <a:rPr lang="en-IN" sz="1600" dirty="0" err="1"/>
              <a:t>Analyze</a:t>
            </a:r>
            <a:r>
              <a:rPr lang="en-IN" sz="1600" dirty="0"/>
              <a:t> salary trends and distributions using the 2020–2024 salary dataset, and explore skills demand using the 2025 job-postings dataset. Use the available filters to compare job titles, experience or seniority levels, industries, and locations. Interpret each chart according to its indicator, unit, time period, and selected filters.</a:t>
            </a:r>
          </a:p>
        </p:txBody>
      </p:sp>
      <p:pic>
        <p:nvPicPr>
          <p:cNvPr id="11" name="Picture 10">
            <a:extLst>
              <a:ext uri="{FF2B5EF4-FFF2-40B4-BE49-F238E27FC236}">
                <a16:creationId xmlns:a16="http://schemas.microsoft.com/office/drawing/2014/main" id="{76840F3F-63F0-6A54-F1D3-318370197F5E}"/>
              </a:ext>
            </a:extLst>
          </p:cNvPr>
          <p:cNvPicPr>
            <a:picLocks noChangeAspect="1"/>
          </p:cNvPicPr>
          <p:nvPr/>
        </p:nvPicPr>
        <p:blipFill>
          <a:blip r:embed="rId2"/>
          <a:stretch>
            <a:fillRect/>
          </a:stretch>
        </p:blipFill>
        <p:spPr>
          <a:xfrm>
            <a:off x="1943605" y="944264"/>
            <a:ext cx="7323090" cy="42428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881360" cy="502920"/>
          </a:xfrm>
          <a:prstGeom prst="rect">
            <a:avLst/>
          </a:prstGeom>
          <a:noFill/>
        </p:spPr>
        <p:txBody>
          <a:bodyPr wrap="square" lIns="54864" tIns="54864" rIns="54864" bIns="54864" anchor="t">
            <a:spAutoFit/>
          </a:bodyPr>
          <a:lstStyle/>
          <a:p>
            <a:pPr>
              <a:spcAft>
                <a:spcPts val="700"/>
              </a:spcAft>
              <a:defRPr sz="2800" b="1">
                <a:solidFill>
                  <a:srgbClr val="142B44"/>
                </a:solidFill>
                <a:latin typeface="Aptos"/>
              </a:defRPr>
            </a:pPr>
            <a:r>
              <a:rPr dirty="0"/>
              <a:t>Misleading visualization and ethical redesign</a:t>
            </a:r>
          </a:p>
        </p:txBody>
      </p:sp>
      <p:sp>
        <p:nvSpPr>
          <p:cNvPr id="4" name="TextBox 3"/>
          <p:cNvSpPr txBox="1"/>
          <p:nvPr/>
        </p:nvSpPr>
        <p:spPr>
          <a:xfrm>
            <a:off x="530352" y="859536"/>
            <a:ext cx="10972800" cy="347472"/>
          </a:xfrm>
          <a:prstGeom prst="rect">
            <a:avLst/>
          </a:prstGeom>
          <a:noFill/>
        </p:spPr>
        <p:txBody>
          <a:bodyPr wrap="square" lIns="54864" tIns="54864" rIns="54864" bIns="54864" anchor="t">
            <a:spAutoFit/>
          </a:bodyPr>
          <a:lstStyle/>
          <a:p>
            <a:pPr>
              <a:spcAft>
                <a:spcPts val="700"/>
              </a:spcAft>
              <a:defRPr sz="1100" b="0">
                <a:solidFill>
                  <a:srgbClr val="5E6F7F"/>
                </a:solidFill>
                <a:latin typeface="Aptos"/>
              </a:defRPr>
            </a:pPr>
            <a:r>
              <a:t>The same values can tell a different story when the axis is distorted</a:t>
            </a:r>
          </a:p>
        </p:txBody>
      </p:sp>
      <p:sp>
        <p:nvSpPr>
          <p:cNvPr id="5" name="Rectangle 4"/>
          <p:cNvSpPr/>
          <p:nvPr/>
        </p:nvSpPr>
        <p:spPr>
          <a:xfrm>
            <a:off x="502920" y="6510528"/>
            <a:ext cx="11155680"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37960"/>
            <a:ext cx="457200" cy="201168"/>
          </a:xfrm>
          <a:prstGeom prst="rect">
            <a:avLst/>
          </a:prstGeom>
          <a:noFill/>
        </p:spPr>
        <p:txBody>
          <a:bodyPr wrap="square" lIns="54864" tIns="54864" rIns="54864" bIns="54864" anchor="t">
            <a:spAutoFit/>
          </a:bodyPr>
          <a:lstStyle/>
          <a:p>
            <a:pPr algn="r">
              <a:spcAft>
                <a:spcPts val="700"/>
              </a:spcAft>
              <a:defRPr sz="900" b="0">
                <a:solidFill>
                  <a:srgbClr val="5E6F7F"/>
                </a:solidFill>
                <a:latin typeface="Aptos"/>
              </a:defRPr>
            </a:pPr>
            <a:r>
              <a:t>12</a:t>
            </a:r>
          </a:p>
        </p:txBody>
      </p:sp>
      <p:sp>
        <p:nvSpPr>
          <p:cNvPr id="9" name="Rounded Rectangle 8"/>
          <p:cNvSpPr/>
          <p:nvPr/>
        </p:nvSpPr>
        <p:spPr>
          <a:xfrm>
            <a:off x="8229600" y="1508759"/>
            <a:ext cx="3154680" cy="1920241"/>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0" y="1508760"/>
            <a:ext cx="45719" cy="1857174"/>
          </a:xfrm>
          <a:prstGeom prst="rect">
            <a:avLst/>
          </a:prstGeom>
          <a:solidFill>
            <a:srgbClr val="B74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85632" y="1536384"/>
            <a:ext cx="2788920" cy="32004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rPr dirty="0"/>
              <a:t>Intentionally misleading</a:t>
            </a:r>
          </a:p>
        </p:txBody>
      </p:sp>
      <p:sp>
        <p:nvSpPr>
          <p:cNvPr id="12" name="TextBox 11"/>
          <p:cNvSpPr txBox="1"/>
          <p:nvPr/>
        </p:nvSpPr>
        <p:spPr>
          <a:xfrm>
            <a:off x="8421624" y="1870140"/>
            <a:ext cx="2770632" cy="1495794"/>
          </a:xfrm>
          <a:prstGeom prst="rect">
            <a:avLst/>
          </a:prstGeom>
          <a:noFill/>
        </p:spPr>
        <p:txBody>
          <a:bodyPr wrap="square" lIns="54864" tIns="54864" rIns="54864" bIns="54864" anchor="t">
            <a:spAutoFit/>
          </a:bodyPr>
          <a:lstStyle/>
          <a:p>
            <a:pPr marL="285750" lvl="0" indent="-285750">
              <a:buFont typeface="Arial" panose="020B0604020202020204" pitchFamily="34" charset="0"/>
              <a:buChar char="•"/>
            </a:pPr>
            <a:r>
              <a:rPr lang="en-IN" dirty="0"/>
              <a:t>Truncated Y-axis exaggerates salary differences.</a:t>
            </a:r>
          </a:p>
          <a:p>
            <a:pPr marL="285750" lvl="0" indent="-285750">
              <a:buFont typeface="Arial" panose="020B0604020202020204" pitchFamily="34" charset="0"/>
              <a:buChar char="•"/>
            </a:pPr>
            <a:r>
              <a:rPr lang="en-IN" dirty="0"/>
              <a:t>Missing labels and units can mislead viewers.</a:t>
            </a:r>
          </a:p>
        </p:txBody>
      </p:sp>
      <p:sp>
        <p:nvSpPr>
          <p:cNvPr id="13" name="Rounded Rectangle 12"/>
          <p:cNvSpPr/>
          <p:nvPr/>
        </p:nvSpPr>
        <p:spPr>
          <a:xfrm>
            <a:off x="8302752" y="4226956"/>
            <a:ext cx="3154680" cy="1785024"/>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302752" y="4226956"/>
            <a:ext cx="57977" cy="1771508"/>
          </a:xfrm>
          <a:prstGeom prst="rect">
            <a:avLst/>
          </a:prstGeom>
          <a:solidFill>
            <a:srgbClr val="3285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64231" y="4254387"/>
            <a:ext cx="2788920" cy="32004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rPr dirty="0"/>
              <a:t>Ethical correction</a:t>
            </a:r>
          </a:p>
        </p:txBody>
      </p:sp>
      <p:sp>
        <p:nvSpPr>
          <p:cNvPr id="16" name="TextBox 15"/>
          <p:cNvSpPr txBox="1"/>
          <p:nvPr/>
        </p:nvSpPr>
        <p:spPr>
          <a:xfrm>
            <a:off x="8421624" y="4516186"/>
            <a:ext cx="2770632" cy="1495794"/>
          </a:xfrm>
          <a:prstGeom prst="rect">
            <a:avLst/>
          </a:prstGeom>
          <a:noFill/>
        </p:spPr>
        <p:txBody>
          <a:bodyPr wrap="square" lIns="54864" tIns="54864" rIns="54864" bIns="54864" anchor="t">
            <a:spAutoFit/>
          </a:bodyPr>
          <a:lstStyle/>
          <a:p>
            <a:pPr marL="285750" lvl="0" indent="-285750">
              <a:buFont typeface="Arial" panose="020B0604020202020204" pitchFamily="34" charset="0"/>
              <a:buChar char="•"/>
            </a:pPr>
            <a:r>
              <a:rPr lang="en-IN" dirty="0"/>
              <a:t>Use an appropriate, consistent scale.</a:t>
            </a:r>
          </a:p>
          <a:p>
            <a:pPr marL="285750" lvl="0" indent="-285750">
              <a:buFont typeface="Arial" panose="020B0604020202020204" pitchFamily="34" charset="0"/>
              <a:buChar char="•"/>
            </a:pPr>
            <a:r>
              <a:rPr lang="en-IN" dirty="0"/>
              <a:t>Label axes, salary units (USD), and years clearly.</a:t>
            </a:r>
          </a:p>
          <a:p>
            <a:pPr marL="285750" lvl="0" indent="-285750">
              <a:buFont typeface="Arial" panose="020B0604020202020204" pitchFamily="34" charset="0"/>
              <a:buChar char="•"/>
            </a:pPr>
            <a:r>
              <a:rPr lang="en-IN" dirty="0"/>
              <a:t>Display relevant filters.</a:t>
            </a:r>
          </a:p>
        </p:txBody>
      </p:sp>
      <p:sp>
        <p:nvSpPr>
          <p:cNvPr id="17" name="TextBox 16"/>
          <p:cNvSpPr txBox="1"/>
          <p:nvPr/>
        </p:nvSpPr>
        <p:spPr>
          <a:xfrm>
            <a:off x="777240" y="5806440"/>
            <a:ext cx="10698480" cy="274320"/>
          </a:xfrm>
          <a:prstGeom prst="rect">
            <a:avLst/>
          </a:prstGeom>
          <a:noFill/>
        </p:spPr>
        <p:txBody>
          <a:bodyPr wrap="square" lIns="54864" tIns="54864" rIns="54864" bIns="54864" anchor="t">
            <a:spAutoFit/>
          </a:bodyPr>
          <a:lstStyle/>
          <a:p>
            <a:pPr algn="ctr">
              <a:spcAft>
                <a:spcPts val="700"/>
              </a:spcAft>
              <a:defRPr sz="1200" b="0">
                <a:solidFill>
                  <a:srgbClr val="5E6F7F"/>
                </a:solidFill>
                <a:latin typeface="Aptos"/>
              </a:defRPr>
            </a:pPr>
            <a:r>
              <a:rPr dirty="0"/>
              <a:t>The data are unchanged; the visual framing is what changes.</a:t>
            </a:r>
          </a:p>
        </p:txBody>
      </p:sp>
      <p:pic>
        <p:nvPicPr>
          <p:cNvPr id="19" name="Picture 18">
            <a:extLst>
              <a:ext uri="{FF2B5EF4-FFF2-40B4-BE49-F238E27FC236}">
                <a16:creationId xmlns:a16="http://schemas.microsoft.com/office/drawing/2014/main" id="{A0C81EDF-E1F8-6FA3-22D6-98B83E392C11}"/>
              </a:ext>
            </a:extLst>
          </p:cNvPr>
          <p:cNvPicPr>
            <a:picLocks noChangeAspect="1"/>
          </p:cNvPicPr>
          <p:nvPr/>
        </p:nvPicPr>
        <p:blipFill>
          <a:blip r:embed="rId2"/>
          <a:stretch>
            <a:fillRect/>
          </a:stretch>
        </p:blipFill>
        <p:spPr>
          <a:xfrm>
            <a:off x="147406" y="1565847"/>
            <a:ext cx="7954178" cy="345198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881360" cy="502920"/>
          </a:xfrm>
          <a:prstGeom prst="rect">
            <a:avLst/>
          </a:prstGeom>
          <a:noFill/>
        </p:spPr>
        <p:txBody>
          <a:bodyPr wrap="square" lIns="54864" tIns="54864" rIns="54864" bIns="54864" anchor="t">
            <a:spAutoFit/>
          </a:bodyPr>
          <a:lstStyle/>
          <a:p>
            <a:pPr>
              <a:spcAft>
                <a:spcPts val="700"/>
              </a:spcAft>
              <a:defRPr sz="2800" b="1">
                <a:solidFill>
                  <a:srgbClr val="142B44"/>
                </a:solidFill>
                <a:latin typeface="Aptos"/>
              </a:defRPr>
            </a:pPr>
            <a:r>
              <a:t>Key findings</a:t>
            </a:r>
          </a:p>
        </p:txBody>
      </p:sp>
      <p:sp>
        <p:nvSpPr>
          <p:cNvPr id="4" name="TextBox 3"/>
          <p:cNvSpPr txBox="1"/>
          <p:nvPr/>
        </p:nvSpPr>
        <p:spPr>
          <a:xfrm>
            <a:off x="530352" y="859536"/>
            <a:ext cx="10972800" cy="347472"/>
          </a:xfrm>
          <a:prstGeom prst="rect">
            <a:avLst/>
          </a:prstGeom>
          <a:noFill/>
        </p:spPr>
        <p:txBody>
          <a:bodyPr wrap="square" lIns="54864" tIns="54864" rIns="54864" bIns="54864" anchor="t">
            <a:spAutoFit/>
          </a:bodyPr>
          <a:lstStyle/>
          <a:p>
            <a:pPr>
              <a:spcAft>
                <a:spcPts val="700"/>
              </a:spcAft>
              <a:defRPr sz="1100" b="0">
                <a:solidFill>
                  <a:srgbClr val="5E6F7F"/>
                </a:solidFill>
                <a:latin typeface="Aptos"/>
              </a:defRPr>
            </a:pPr>
            <a:r>
              <a:t>Evidence-led observations from the analysis</a:t>
            </a:r>
          </a:p>
        </p:txBody>
      </p:sp>
      <p:sp>
        <p:nvSpPr>
          <p:cNvPr id="5" name="Rectangle 4"/>
          <p:cNvSpPr/>
          <p:nvPr/>
        </p:nvSpPr>
        <p:spPr>
          <a:xfrm>
            <a:off x="502920" y="6510528"/>
            <a:ext cx="11155680"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37960"/>
            <a:ext cx="457200" cy="201168"/>
          </a:xfrm>
          <a:prstGeom prst="rect">
            <a:avLst/>
          </a:prstGeom>
          <a:noFill/>
        </p:spPr>
        <p:txBody>
          <a:bodyPr wrap="square" lIns="54864" tIns="54864" rIns="54864" bIns="54864" anchor="t">
            <a:spAutoFit/>
          </a:bodyPr>
          <a:lstStyle/>
          <a:p>
            <a:pPr algn="r">
              <a:spcAft>
                <a:spcPts val="700"/>
              </a:spcAft>
              <a:defRPr sz="900" b="0">
                <a:solidFill>
                  <a:srgbClr val="5E6F7F"/>
                </a:solidFill>
                <a:latin typeface="Aptos"/>
              </a:defRPr>
            </a:pPr>
            <a:r>
              <a:t>13</a:t>
            </a:r>
          </a:p>
        </p:txBody>
      </p:sp>
      <p:sp>
        <p:nvSpPr>
          <p:cNvPr id="8" name="Rounded Rectangle 7"/>
          <p:cNvSpPr/>
          <p:nvPr/>
        </p:nvSpPr>
        <p:spPr>
          <a:xfrm>
            <a:off x="640080" y="1325880"/>
            <a:ext cx="5303520" cy="137160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325880"/>
            <a:ext cx="73152" cy="1371600"/>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7" y="1490472"/>
            <a:ext cx="4937759" cy="32004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t>Dataset coverage</a:t>
            </a:r>
          </a:p>
        </p:txBody>
      </p:sp>
      <p:sp>
        <p:nvSpPr>
          <p:cNvPr id="11" name="TextBox 10"/>
          <p:cNvSpPr txBox="1"/>
          <p:nvPr/>
        </p:nvSpPr>
        <p:spPr>
          <a:xfrm>
            <a:off x="841247" y="1901952"/>
            <a:ext cx="4919472" cy="658368"/>
          </a:xfrm>
          <a:prstGeom prst="rect">
            <a:avLst/>
          </a:prstGeom>
          <a:noFill/>
        </p:spPr>
        <p:txBody>
          <a:bodyPr wrap="square" lIns="54864" tIns="54864" rIns="54864" bIns="54864" anchor="t">
            <a:spAutoFit/>
          </a:bodyPr>
          <a:lstStyle/>
          <a:p>
            <a:r>
              <a:rPr lang="en-IN" dirty="0"/>
              <a:t>Salary data from 2020–2024 and job postings from 2025.</a:t>
            </a:r>
          </a:p>
        </p:txBody>
      </p:sp>
      <p:sp>
        <p:nvSpPr>
          <p:cNvPr id="12" name="Rounded Rectangle 11"/>
          <p:cNvSpPr/>
          <p:nvPr/>
        </p:nvSpPr>
        <p:spPr>
          <a:xfrm>
            <a:off x="6217920" y="1325880"/>
            <a:ext cx="5303520" cy="137160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1325880"/>
            <a:ext cx="73152" cy="1371600"/>
          </a:xfrm>
          <a:prstGeom prst="rect">
            <a:avLst/>
          </a:prstGeom>
          <a:solidFill>
            <a:srgbClr val="EEAD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19088" y="1490472"/>
            <a:ext cx="4937759" cy="32004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t>Temporal summary</a:t>
            </a:r>
          </a:p>
        </p:txBody>
      </p:sp>
      <p:sp>
        <p:nvSpPr>
          <p:cNvPr id="15" name="TextBox 14"/>
          <p:cNvSpPr txBox="1"/>
          <p:nvPr/>
        </p:nvSpPr>
        <p:spPr>
          <a:xfrm>
            <a:off x="6419088" y="1901952"/>
            <a:ext cx="4919472" cy="658368"/>
          </a:xfrm>
          <a:prstGeom prst="rect">
            <a:avLst/>
          </a:prstGeom>
          <a:noFill/>
        </p:spPr>
        <p:txBody>
          <a:bodyPr wrap="square" lIns="54864" tIns="54864" rIns="54864" bIns="54864" anchor="t">
            <a:spAutoFit/>
          </a:bodyPr>
          <a:lstStyle/>
          <a:p>
            <a:r>
              <a:rPr lang="en-IN" dirty="0" err="1"/>
              <a:t>Analyze</a:t>
            </a:r>
            <a:r>
              <a:rPr lang="en-IN" dirty="0"/>
              <a:t> salary trends across years to identify changes over time.</a:t>
            </a:r>
          </a:p>
        </p:txBody>
      </p:sp>
      <p:sp>
        <p:nvSpPr>
          <p:cNvPr id="16" name="Rounded Rectangle 15"/>
          <p:cNvSpPr/>
          <p:nvPr/>
        </p:nvSpPr>
        <p:spPr>
          <a:xfrm>
            <a:off x="640080" y="3017520"/>
            <a:ext cx="5303520" cy="137160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3017520"/>
            <a:ext cx="73152" cy="1371600"/>
          </a:xfrm>
          <a:prstGeom prst="rect">
            <a:avLst/>
          </a:prstGeom>
          <a:solidFill>
            <a:srgbClr val="3285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3182112"/>
            <a:ext cx="4937759" cy="32004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t>Country differences</a:t>
            </a:r>
          </a:p>
        </p:txBody>
      </p:sp>
      <p:sp>
        <p:nvSpPr>
          <p:cNvPr id="19" name="TextBox 18"/>
          <p:cNvSpPr txBox="1"/>
          <p:nvPr/>
        </p:nvSpPr>
        <p:spPr>
          <a:xfrm>
            <a:off x="841247" y="3593591"/>
            <a:ext cx="4919472" cy="658368"/>
          </a:xfrm>
          <a:prstGeom prst="rect">
            <a:avLst/>
          </a:prstGeom>
          <a:noFill/>
        </p:spPr>
        <p:txBody>
          <a:bodyPr wrap="square" lIns="54864" tIns="54864" rIns="54864" bIns="54864" anchor="t">
            <a:spAutoFit/>
          </a:bodyPr>
          <a:lstStyle/>
          <a:p>
            <a:r>
              <a:rPr lang="en-IN" dirty="0"/>
              <a:t>Compare salaries across employee residence and company locations.</a:t>
            </a:r>
          </a:p>
        </p:txBody>
      </p:sp>
      <p:sp>
        <p:nvSpPr>
          <p:cNvPr id="20" name="Rounded Rectangle 19"/>
          <p:cNvSpPr/>
          <p:nvPr/>
        </p:nvSpPr>
        <p:spPr>
          <a:xfrm>
            <a:off x="6217920" y="3017520"/>
            <a:ext cx="5303520" cy="137160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17920" y="3017520"/>
            <a:ext cx="73152" cy="1371600"/>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3182112"/>
            <a:ext cx="4937759" cy="32004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t>Relationship analysis</a:t>
            </a:r>
          </a:p>
        </p:txBody>
      </p:sp>
      <p:sp>
        <p:nvSpPr>
          <p:cNvPr id="23" name="TextBox 22"/>
          <p:cNvSpPr txBox="1"/>
          <p:nvPr/>
        </p:nvSpPr>
        <p:spPr>
          <a:xfrm>
            <a:off x="6419088" y="3593591"/>
            <a:ext cx="4919472" cy="658368"/>
          </a:xfrm>
          <a:prstGeom prst="rect">
            <a:avLst/>
          </a:prstGeom>
          <a:noFill/>
        </p:spPr>
        <p:txBody>
          <a:bodyPr wrap="square" lIns="54864" tIns="54864" rIns="54864" bIns="54864" anchor="t">
            <a:spAutoFit/>
          </a:bodyPr>
          <a:lstStyle/>
          <a:p>
            <a:r>
              <a:rPr lang="en-IN" dirty="0"/>
              <a:t>Explore relationships between salary, experience level, job title, and remote-work ratio.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881360" cy="502920"/>
          </a:xfrm>
          <a:prstGeom prst="rect">
            <a:avLst/>
          </a:prstGeom>
          <a:noFill/>
        </p:spPr>
        <p:txBody>
          <a:bodyPr wrap="square" lIns="54864" tIns="54864" rIns="54864" bIns="54864" anchor="t">
            <a:spAutoFit/>
          </a:bodyPr>
          <a:lstStyle/>
          <a:p>
            <a:pPr>
              <a:spcAft>
                <a:spcPts val="700"/>
              </a:spcAft>
              <a:defRPr sz="2800" b="1">
                <a:solidFill>
                  <a:srgbClr val="142B44"/>
                </a:solidFill>
                <a:latin typeface="Aptos"/>
              </a:defRPr>
            </a:pPr>
            <a:r>
              <a:t>Conclusion, limitations, and demonstration</a:t>
            </a:r>
          </a:p>
        </p:txBody>
      </p:sp>
      <p:sp>
        <p:nvSpPr>
          <p:cNvPr id="4" name="TextBox 3"/>
          <p:cNvSpPr txBox="1"/>
          <p:nvPr/>
        </p:nvSpPr>
        <p:spPr>
          <a:xfrm>
            <a:off x="530352" y="859536"/>
            <a:ext cx="10972800" cy="347472"/>
          </a:xfrm>
          <a:prstGeom prst="rect">
            <a:avLst/>
          </a:prstGeom>
          <a:noFill/>
        </p:spPr>
        <p:txBody>
          <a:bodyPr wrap="square" lIns="54864" tIns="54864" rIns="54864" bIns="54864" anchor="t">
            <a:spAutoFit/>
          </a:bodyPr>
          <a:lstStyle/>
          <a:p>
            <a:pPr>
              <a:spcAft>
                <a:spcPts val="700"/>
              </a:spcAft>
              <a:defRPr sz="1100" b="0">
                <a:solidFill>
                  <a:srgbClr val="5E6F7F"/>
                </a:solidFill>
                <a:latin typeface="Aptos"/>
              </a:defRPr>
            </a:pPr>
            <a:r>
              <a:t>What to communicate during the final presentation</a:t>
            </a:r>
          </a:p>
        </p:txBody>
      </p:sp>
      <p:sp>
        <p:nvSpPr>
          <p:cNvPr id="5" name="Rectangle 4"/>
          <p:cNvSpPr/>
          <p:nvPr/>
        </p:nvSpPr>
        <p:spPr>
          <a:xfrm>
            <a:off x="502920" y="6510528"/>
            <a:ext cx="11155680"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0" y="6537960"/>
            <a:ext cx="457200" cy="201168"/>
          </a:xfrm>
          <a:prstGeom prst="rect">
            <a:avLst/>
          </a:prstGeom>
          <a:noFill/>
        </p:spPr>
        <p:txBody>
          <a:bodyPr wrap="square" lIns="54864" tIns="54864" rIns="54864" bIns="54864" anchor="t">
            <a:spAutoFit/>
          </a:bodyPr>
          <a:lstStyle/>
          <a:p>
            <a:pPr algn="r">
              <a:spcAft>
                <a:spcPts val="700"/>
              </a:spcAft>
              <a:defRPr sz="900" b="0">
                <a:solidFill>
                  <a:srgbClr val="5E6F7F"/>
                </a:solidFill>
                <a:latin typeface="Aptos"/>
              </a:defRPr>
            </a:pPr>
            <a:r>
              <a:t>14</a:t>
            </a:r>
          </a:p>
        </p:txBody>
      </p:sp>
      <p:sp>
        <p:nvSpPr>
          <p:cNvPr id="8" name="Rounded Rectangle 7"/>
          <p:cNvSpPr/>
          <p:nvPr/>
        </p:nvSpPr>
        <p:spPr>
          <a:xfrm>
            <a:off x="640080" y="1280160"/>
            <a:ext cx="3520440" cy="218765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280160"/>
            <a:ext cx="73152" cy="1965960"/>
          </a:xfrm>
          <a:prstGeom prst="rect">
            <a:avLst/>
          </a:prstGeom>
          <a:solidFill>
            <a:srgbClr val="008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59" y="1325879"/>
            <a:ext cx="3154680" cy="32004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rPr dirty="0"/>
              <a:t>Conclusion</a:t>
            </a:r>
          </a:p>
        </p:txBody>
      </p:sp>
      <p:sp>
        <p:nvSpPr>
          <p:cNvPr id="11" name="TextBox 10"/>
          <p:cNvSpPr txBox="1"/>
          <p:nvPr/>
        </p:nvSpPr>
        <p:spPr>
          <a:xfrm>
            <a:off x="841247" y="1583056"/>
            <a:ext cx="3136392" cy="1341906"/>
          </a:xfrm>
          <a:prstGeom prst="rect">
            <a:avLst/>
          </a:prstGeom>
          <a:noFill/>
        </p:spPr>
        <p:txBody>
          <a:bodyPr wrap="square" lIns="54864" tIns="54864" rIns="54864" bIns="54864" anchor="t">
            <a:spAutoFit/>
          </a:bodyPr>
          <a:lstStyle/>
          <a:p>
            <a:pPr marL="285750" lvl="0" indent="-285750">
              <a:buFont typeface="Arial" panose="020B0604020202020204" pitchFamily="34" charset="0"/>
              <a:buChar char="•"/>
            </a:pPr>
            <a:r>
              <a:rPr lang="en-IN" sz="1600" dirty="0" err="1"/>
              <a:t>Analyzed</a:t>
            </a:r>
            <a:r>
              <a:rPr lang="en-IN" sz="1600" dirty="0"/>
              <a:t> data science salaries, job trends, and skills demand.</a:t>
            </a:r>
          </a:p>
          <a:p>
            <a:pPr marL="285750" lvl="0" indent="-285750">
              <a:buFont typeface="Arial" panose="020B0604020202020204" pitchFamily="34" charset="0"/>
              <a:buChar char="•"/>
            </a:pPr>
            <a:r>
              <a:rPr lang="en-IN" sz="1600" dirty="0"/>
              <a:t>Explored salary patterns across years, countries, and experience levels.</a:t>
            </a:r>
          </a:p>
        </p:txBody>
      </p:sp>
      <p:sp>
        <p:nvSpPr>
          <p:cNvPr id="12" name="Rounded Rectangle 11"/>
          <p:cNvSpPr/>
          <p:nvPr/>
        </p:nvSpPr>
        <p:spPr>
          <a:xfrm>
            <a:off x="4343400" y="1280159"/>
            <a:ext cx="3520440" cy="2187651"/>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1280160"/>
            <a:ext cx="73152" cy="1965960"/>
          </a:xfrm>
          <a:prstGeom prst="rect">
            <a:avLst/>
          </a:prstGeom>
          <a:solidFill>
            <a:srgbClr val="EEAD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62856" y="1306984"/>
            <a:ext cx="3154680" cy="32004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rPr dirty="0"/>
              <a:t>Limitations</a:t>
            </a:r>
          </a:p>
        </p:txBody>
      </p:sp>
      <p:sp>
        <p:nvSpPr>
          <p:cNvPr id="15" name="TextBox 14"/>
          <p:cNvSpPr txBox="1"/>
          <p:nvPr/>
        </p:nvSpPr>
        <p:spPr>
          <a:xfrm>
            <a:off x="4527651" y="1549047"/>
            <a:ext cx="3136392" cy="1895904"/>
          </a:xfrm>
          <a:prstGeom prst="rect">
            <a:avLst/>
          </a:prstGeom>
          <a:noFill/>
        </p:spPr>
        <p:txBody>
          <a:bodyPr wrap="square" lIns="54864" tIns="54864" rIns="54864" bIns="54864" anchor="t">
            <a:spAutoFit/>
          </a:bodyPr>
          <a:lstStyle/>
          <a:p>
            <a:pPr marL="285750" lvl="0" indent="-285750">
              <a:buFont typeface="Arial" panose="020B0604020202020204" pitchFamily="34" charset="0"/>
              <a:buChar char="•"/>
            </a:pPr>
            <a:r>
              <a:rPr lang="en-IN" sz="1600" dirty="0"/>
              <a:t>Salary and job-posting datasets cover different time periods.</a:t>
            </a:r>
          </a:p>
          <a:p>
            <a:pPr marL="285750" lvl="0" indent="-285750">
              <a:buFont typeface="Arial" panose="020B0604020202020204" pitchFamily="34" charset="0"/>
              <a:buChar char="•"/>
            </a:pPr>
            <a:r>
              <a:rPr lang="en-IN" sz="1600" dirty="0"/>
              <a:t>Missing values, duplicate records, and inconsistent salary formats may affect analysis.</a:t>
            </a:r>
          </a:p>
          <a:p>
            <a:pPr marL="285750" lvl="0" indent="-285750">
              <a:buFont typeface="Arial" panose="020B0604020202020204" pitchFamily="34" charset="0"/>
              <a:buChar char="•"/>
            </a:pPr>
            <a:r>
              <a:rPr lang="en-IN" sz="1600" dirty="0"/>
              <a:t>Findings may not represent the entire job market.</a:t>
            </a:r>
          </a:p>
        </p:txBody>
      </p:sp>
      <p:sp>
        <p:nvSpPr>
          <p:cNvPr id="16" name="Rounded Rectangle 15"/>
          <p:cNvSpPr/>
          <p:nvPr/>
        </p:nvSpPr>
        <p:spPr>
          <a:xfrm>
            <a:off x="8046720" y="1280160"/>
            <a:ext cx="3520440" cy="2187650"/>
          </a:xfrm>
          <a:prstGeom prst="roundRect">
            <a:avLst>
              <a:gd name="adj" fmla="val 12000"/>
            </a:avLst>
          </a:prstGeom>
          <a:solidFill>
            <a:srgbClr val="FFFFFF"/>
          </a:solidFill>
          <a:ln>
            <a:solidFill>
              <a:srgbClr val="E2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46720" y="1280160"/>
            <a:ext cx="73152" cy="1965960"/>
          </a:xfrm>
          <a:prstGeom prst="rect">
            <a:avLst/>
          </a:prstGeom>
          <a:solidFill>
            <a:srgbClr val="3285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0" y="1326364"/>
            <a:ext cx="3154680" cy="320040"/>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rPr dirty="0"/>
              <a:t>Recommendations</a:t>
            </a:r>
          </a:p>
        </p:txBody>
      </p:sp>
      <p:sp>
        <p:nvSpPr>
          <p:cNvPr id="19" name="TextBox 18"/>
          <p:cNvSpPr txBox="1"/>
          <p:nvPr/>
        </p:nvSpPr>
        <p:spPr>
          <a:xfrm>
            <a:off x="8156837" y="1560849"/>
            <a:ext cx="3136392" cy="1834348"/>
          </a:xfrm>
          <a:prstGeom prst="rect">
            <a:avLst/>
          </a:prstGeom>
          <a:noFill/>
        </p:spPr>
        <p:txBody>
          <a:bodyPr wrap="square" lIns="54864" tIns="54864" rIns="54864" bIns="54864" anchor="t">
            <a:spAutoFit/>
          </a:bodyPr>
          <a:lstStyle/>
          <a:p>
            <a:pPr marL="285750" lvl="0" indent="-285750">
              <a:buFont typeface="Arial" panose="020B0604020202020204" pitchFamily="34" charset="0"/>
              <a:buChar char="•"/>
            </a:pPr>
            <a:r>
              <a:rPr lang="en-IN" sz="1600" dirty="0"/>
              <a:t>Develop skills aligned with frequently requested job-posting skills.</a:t>
            </a:r>
          </a:p>
          <a:p>
            <a:pPr marL="285750" lvl="0" indent="-285750">
              <a:buFont typeface="Arial" panose="020B0604020202020204" pitchFamily="34" charset="0"/>
              <a:buChar char="•"/>
            </a:pPr>
            <a:r>
              <a:rPr lang="en-IN" sz="1600" dirty="0"/>
              <a:t>Compare salaries by experience, location, and job title.</a:t>
            </a:r>
          </a:p>
          <a:p>
            <a:pPr marL="285750" lvl="0" indent="-285750">
              <a:buFont typeface="Arial" panose="020B0604020202020204" pitchFamily="34" charset="0"/>
              <a:buChar char="•"/>
            </a:pPr>
            <a:r>
              <a:rPr lang="en-IN" sz="1600" dirty="0"/>
              <a:t>Update datasets regularly for more relevant insights.</a:t>
            </a:r>
          </a:p>
        </p:txBody>
      </p:sp>
      <p:sp>
        <p:nvSpPr>
          <p:cNvPr id="20" name="TextBox 19"/>
          <p:cNvSpPr txBox="1"/>
          <p:nvPr/>
        </p:nvSpPr>
        <p:spPr>
          <a:xfrm>
            <a:off x="777240" y="3749039"/>
            <a:ext cx="10607040" cy="347472"/>
          </a:xfrm>
          <a:prstGeom prst="rect">
            <a:avLst/>
          </a:prstGeom>
          <a:noFill/>
        </p:spPr>
        <p:txBody>
          <a:bodyPr wrap="square" lIns="54864" tIns="54864" rIns="54864" bIns="54864" anchor="t">
            <a:spAutoFit/>
          </a:bodyPr>
          <a:lstStyle/>
          <a:p>
            <a:pPr>
              <a:spcAft>
                <a:spcPts val="700"/>
              </a:spcAft>
              <a:defRPr sz="1600" b="1">
                <a:solidFill>
                  <a:srgbClr val="142B44"/>
                </a:solidFill>
                <a:latin typeface="Aptos"/>
              </a:defRPr>
            </a:pPr>
            <a:r>
              <a:t>LIVE DEMO CHECKLIST</a:t>
            </a:r>
          </a:p>
        </p:txBody>
      </p:sp>
      <p:sp>
        <p:nvSpPr>
          <p:cNvPr id="21" name="TextBox 20"/>
          <p:cNvSpPr txBox="1"/>
          <p:nvPr/>
        </p:nvSpPr>
        <p:spPr>
          <a:xfrm>
            <a:off x="868680" y="4206240"/>
            <a:ext cx="10241280" cy="1417320"/>
          </a:xfrm>
          <a:prstGeom prst="rect">
            <a:avLst/>
          </a:prstGeom>
          <a:noFill/>
        </p:spPr>
        <p:txBody>
          <a:bodyPr wrap="square" lIns="54864" tIns="54864" rIns="54864" bIns="54864" anchor="t">
            <a:spAutoFit/>
          </a:bodyPr>
          <a:lstStyle/>
          <a:p>
            <a:pPr>
              <a:spcAft>
                <a:spcPts val="700"/>
              </a:spcAft>
              <a:defRPr sz="1500" b="0">
                <a:solidFill>
                  <a:srgbClr val="2A3947"/>
                </a:solidFill>
                <a:latin typeface="Aptos"/>
              </a:defRPr>
            </a:pPr>
            <a:r>
              <a:t>• Open the Tableau workbook and explain each dashboard view.</a:t>
            </a:r>
          </a:p>
          <a:p>
            <a:pPr>
              <a:spcAft>
                <a:spcPts val="700"/>
              </a:spcAft>
              <a:defRPr sz="1500" b="0">
                <a:solidFill>
                  <a:srgbClr val="2A3947"/>
                </a:solidFill>
                <a:latin typeface="Aptos"/>
              </a:defRPr>
            </a:pPr>
            <a:r>
              <a:t>• Change a filter and explain what changes in the dashboard.</a:t>
            </a:r>
          </a:p>
          <a:p>
            <a:pPr>
              <a:spcAft>
                <a:spcPts val="700"/>
              </a:spcAft>
              <a:defRPr sz="1500" b="0">
                <a:solidFill>
                  <a:srgbClr val="2A3947"/>
                </a:solidFill>
                <a:latin typeface="Aptos"/>
              </a:defRPr>
            </a:pPr>
            <a:r>
              <a:t>• Explain missing values, threshold proxies, and multi-year periods.</a:t>
            </a:r>
          </a:p>
          <a:p>
            <a:pPr>
              <a:spcAft>
                <a:spcPts val="700"/>
              </a:spcAft>
              <a:defRPr sz="1500" b="0">
                <a:solidFill>
                  <a:srgbClr val="2A3947"/>
                </a:solidFill>
                <a:latin typeface="Aptos"/>
              </a:defRPr>
            </a:pPr>
            <a:r>
              <a:t>• Compare the misleading chart with its zero-baseline correction.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171</TotalTime>
  <Words>1440</Words>
  <Application>Microsoft Office PowerPoint</Application>
  <PresentationFormat>Widescreen</PresentationFormat>
  <Paragraphs>177</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Sabbella Vaishnavi</cp:lastModifiedBy>
  <cp:revision>2</cp:revision>
  <dcterms:created xsi:type="dcterms:W3CDTF">2013-01-27T09:14:16Z</dcterms:created>
  <dcterms:modified xsi:type="dcterms:W3CDTF">2026-10-19T11:07:02Z</dcterms:modified>
  <cp:category/>
</cp:coreProperties>
</file>